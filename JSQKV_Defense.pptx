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4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46080"/>
  </p:normalViewPr>
  <p:slideViewPr>
    <p:cSldViewPr snapToGrid="0" snapToObjects="1" showGuides="1">
      <p:cViewPr varScale="1">
        <p:scale>
          <a:sx n="58" d="100"/>
          <a:sy n="58" d="100"/>
        </p:scale>
        <p:origin x="2848" y="200"/>
      </p:cViewPr>
      <p:guideLst>
        <p:guide orient="horz" pos="2134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7/29/26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[0:00-0:30]  </a:t>
            </a:r>
            <a:r>
              <a:rPr lang="en-US" altLang="zh-CN" dirty="0"/>
              <a:t>Hello</a:t>
            </a:r>
            <a:r>
              <a:rPr dirty="0"/>
              <a:t>, everyone. Thank you for being here. My name is Hao Zhang, from the College of Computer Science at Nankai University. Today I'll present our work, JSQKV -- a joint </a:t>
            </a:r>
            <a:r>
              <a:rPr dirty="0" err="1"/>
              <a:t>sparsification</a:t>
            </a:r>
            <a:r>
              <a:rPr dirty="0"/>
              <a:t> and quantization framework for KV-cache compression and decode acceleration.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[0:30-1:20]  Let me start with the problem. As context windows keep growing, the real bottleneck of autoregressive decoding is no longer computation -- it's the KV cache.</a:t>
            </a:r>
          </a:p>
          <a:p>
            <a:endParaRPr dirty="0"/>
          </a:p>
          <a:p>
            <a:r>
              <a:rPr dirty="0"/>
              <a:t>The KV cache grows LINEARLY with context length, and it is re-read at EVERY single decode step. So in long-context serving, it dominates memory footprint and memory bandwidth, and it caps throughput, batch size, and deployment efficiency. The key point on the right: decoding is memory-bound</a:t>
            </a:r>
          </a:p>
          <a:p>
            <a:endParaRPr dirty="0"/>
          </a:p>
          <a:p>
            <a:r>
              <a:rPr dirty="0"/>
              <a:t>To address this, the community has two main directions: </a:t>
            </a:r>
            <a:r>
              <a:rPr dirty="0" err="1"/>
              <a:t>sparsification</a:t>
            </a:r>
            <a:r>
              <a:rPr dirty="0"/>
              <a:t> -- evicting or pruning less useful KV states -- and low-bit quantization -- reducing the</a:t>
            </a:r>
            <a:r>
              <a:rPr b="1" u="sng" dirty="0"/>
              <a:t> numerical precision </a:t>
            </a:r>
            <a:r>
              <a:rPr dirty="0"/>
              <a:t>of what's kept.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[1:20-2:10]  Both directions work well on their own. The natural idea is to simply combine them -- </a:t>
            </a:r>
            <a:r>
              <a:rPr dirty="0" err="1"/>
              <a:t>sparsify</a:t>
            </a:r>
            <a:r>
              <a:rPr dirty="0"/>
              <a:t>, then quantize. But that naive chaining DOES NOT work, for two reasons.</a:t>
            </a:r>
          </a:p>
          <a:p>
            <a:endParaRPr dirty="0"/>
          </a:p>
          <a:p>
            <a:r>
              <a:rPr dirty="0"/>
              <a:t>First, a representation-and-execution gap. </a:t>
            </a:r>
            <a:r>
              <a:rPr dirty="0" err="1"/>
              <a:t>Sparsification</a:t>
            </a:r>
            <a:r>
              <a:rPr dirty="0"/>
              <a:t> changes not just how MUCH KV you keep, but the retained token and feature LAYOUT. That shifts quantization granularity</a:t>
            </a:r>
            <a:r>
              <a:rPr lang="es-419" altLang="zh-CN" dirty="0"/>
              <a:t>/ˌɡrænjəˈlærəti/</a:t>
            </a:r>
            <a:r>
              <a:rPr dirty="0"/>
              <a:t>, the compressed data layout, and the decode kernel -- so</a:t>
            </a:r>
            <a:r>
              <a:rPr b="1" u="sng" dirty="0"/>
              <a:t> </a:t>
            </a:r>
            <a:r>
              <a:rPr lang="en-US" altLang="zh-CN" b="1" u="sng" dirty="0"/>
              <a:t>algorithm</a:t>
            </a:r>
            <a:r>
              <a:rPr lang="es-419" altLang="zh-CN" dirty="0"/>
              <a:t>/ˈælɡərɪðəm/</a:t>
            </a:r>
            <a:r>
              <a:rPr lang="en-US" altLang="zh-CN" b="1" u="sng" dirty="0"/>
              <a:t> compression</a:t>
            </a:r>
            <a:r>
              <a:rPr b="1" u="sng" dirty="0"/>
              <a:t> gains</a:t>
            </a:r>
            <a:r>
              <a:rPr dirty="0"/>
              <a:t> don't automatically become lower memory traffic.</a:t>
            </a:r>
          </a:p>
          <a:p>
            <a:endParaRPr dirty="0"/>
          </a:p>
          <a:p>
            <a:r>
              <a:rPr dirty="0"/>
              <a:t>Second, an online-decision gap. Token-differential compression is easy in prefill, where future attention is observable. But during decoding, a token must be cached </a:t>
            </a:r>
            <a:r>
              <a:rPr lang="en-US" dirty="0"/>
              <a:t>before</a:t>
            </a:r>
            <a:r>
              <a:rPr dirty="0"/>
              <a:t> we know how important it will be.</a:t>
            </a:r>
          </a:p>
          <a:p>
            <a:endParaRPr dirty="0"/>
          </a:p>
          <a:p>
            <a:r>
              <a:rPr dirty="0"/>
              <a:t>So the real challenge, at the bottom: preserve model quality under aggressive compression, </a:t>
            </a:r>
            <a:r>
              <a:rPr lang="en-US" dirty="0"/>
              <a:t>and</a:t>
            </a:r>
            <a:r>
              <a:rPr dirty="0"/>
              <a:t> keep the compressed representation directly executable for real speedup.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[2:10-2:55]  Our answer is JSQKV -- a unified sparse-quant decode pipeline. Instead of treating sparsity and quantization as separate post-processing steps, we co-design three things together: the compression POLICY, the compressed FORMAT, and the EXECUTION path.</a:t>
            </a:r>
          </a:p>
          <a:p>
            <a:endParaRPr/>
          </a:p>
          <a:p>
            <a:r>
              <a:t>Concretely, there are four contributions, shown along the bottom, and I'll walk through each: differential sparsity -- a budgeted three-level token policy; a dual-window mechanism that makes it work online; Per-Token-Tile quantization with Hadamard rotation; and a bitmap-based sparse-quant kernel that loads compressed but computes dense.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[2:55-3:55]  First module: budgeted differential sparsity. The idea is simple -- not all tokens deserve the same compression. A fixed sparsity ratio wastes budget on unimportant tokens and over-compresses important ones.</a:t>
            </a:r>
          </a:p>
          <a:p>
            <a:endParaRPr/>
          </a:p>
          <a:p>
            <a:r>
              <a:t>So we estimate token importance from prefill attention: each token's score is the average attention it receives from the last few observation-window queries, in the SnapKV style, length-normalized.</a:t>
            </a:r>
          </a:p>
          <a:p>
            <a:endParaRPr/>
          </a:p>
          <a:p>
            <a:r>
              <a:t>Then we assign every token to one of three levels, shown on the right. Level 0 -- the most important -- stays dense. Level 1 keeps only the top-magnitude features in its key and value vectors. Level 2 -- the least important -- is evicted entirely. Two percentile thresholds split the tokens under a target average budget B, and a small calibration search picks the best allocation at that fixed budget. As we'll see, this matters most when the budget is tight.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[3:55-4:55]  But that policy needs future attention -- which we don't have when a token is first generated. That's the second module: </a:t>
            </a:r>
            <a:r>
              <a:rPr b="1" u="sng"/>
              <a:t>the dual-window mechanism</a:t>
            </a:r>
            <a:r>
              <a:t>.</a:t>
            </a:r>
          </a:p>
          <a:p>
            <a:endParaRPr/>
          </a:p>
          <a:p>
            <a:r>
              <a:t>The trick is to DELAY compression until enough future evidence accumulates. We keep two windows. Window A holds tokens waiting to be compressed. Window B holds newly generated tokens, and their queries OBSERVE Window A, supplying the missing future attention.</a:t>
            </a:r>
          </a:p>
          <a:p>
            <a:endParaRPr/>
          </a:p>
          <a:p>
            <a:r>
              <a:t>Three steps: we accumulate each new query's attention to Window A; we normalize by the number of observations -- since earlier tokens are seen by more queries; and we classify and slide -- comparing against the same thresholds, compressing Window A into history, and Window B becomes the new Window A.</a:t>
            </a:r>
          </a:p>
          <a:p>
            <a:endParaRPr/>
          </a:p>
          <a:p>
            <a:r>
              <a:t>Importantly, each token is observed before it's compressed, and the number of uncompressed tokens stays bounded.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[4:55-5:55]  Third module: </a:t>
            </a:r>
            <a:r>
              <a:rPr b="1" u="sng"/>
              <a:t>quantizing</a:t>
            </a:r>
            <a:r>
              <a:rPr lang="en-US" altLang="zh-CN" b="1" u="sng"/>
              <a:t>[ˈkw</a:t>
            </a:r>
            <a:r>
              <a:rPr lang="" altLang="en-US" b="1" u="sng"/>
              <a:t>ɒ</a:t>
            </a:r>
            <a:r>
              <a:rPr lang="en-US" altLang="zh-CN" b="1" u="sng"/>
              <a:t>nta</a:t>
            </a:r>
            <a:r>
              <a:rPr lang="" altLang="en-US" b="1" u="sng"/>
              <a:t>ɪ</a:t>
            </a:r>
            <a:r>
              <a:rPr lang="en-US" altLang="zh-CN" b="1" u="sng"/>
              <a:t>z</a:t>
            </a:r>
            <a:r>
              <a:rPr lang="" altLang="en-US" b="1" u="sng"/>
              <a:t>ɪŋ]</a:t>
            </a:r>
            <a:r>
              <a:rPr b="1" u="sng"/>
              <a:t> </a:t>
            </a:r>
            <a:r>
              <a:t>what remains. We use Per-Token-Tile quantization -- splitting each key or value vector into small tiles and quantizing each tile independently with its own scale and zero-point. This aligns the quantization unit with our token-level decisions and the tile-based decode path.</a:t>
            </a:r>
          </a:p>
          <a:p>
            <a:endParaRPr/>
          </a:p>
          <a:p>
            <a:r>
              <a:t>The problem is that key states carry OUTLIERS that</a:t>
            </a:r>
            <a:r>
              <a:rPr b="1" u="sng"/>
              <a:t> wreck</a:t>
            </a:r>
            <a:r>
              <a:rPr lang="en-US" altLang="zh-CN" b="1" u="sng"/>
              <a:t> [rek]</a:t>
            </a:r>
            <a:r>
              <a:rPr b="1" u="sng"/>
              <a:t> aggressive </a:t>
            </a:r>
            <a:r>
              <a:t>low-bit quantization. Our fix is an </a:t>
            </a:r>
            <a:r>
              <a:rPr b="1">
                <a:highlight>
                  <a:srgbClr val="FFFF00"/>
                </a:highlight>
              </a:rPr>
              <a:t>orthogonal</a:t>
            </a:r>
            <a:r>
              <a:rPr lang="" altLang="en-US" b="1">
                <a:highlight>
                  <a:srgbClr val="FFFF00"/>
                </a:highlight>
              </a:rPr>
              <a:t> [ɔ</a:t>
            </a:r>
            <a:r>
              <a:rPr lang="en-US" altLang="en-US" b="1">
                <a:highlight>
                  <a:srgbClr val="FFFF00"/>
                </a:highlight>
              </a:rPr>
              <a:t>ːˈ</a:t>
            </a:r>
            <a:r>
              <a:rPr lang="en-US" altLang="zh-CN" b="1">
                <a:highlight>
                  <a:srgbClr val="FFFF00"/>
                </a:highlight>
              </a:rPr>
              <a:t>θ</a:t>
            </a:r>
            <a:r>
              <a:rPr lang="" altLang="en-US" b="1">
                <a:highlight>
                  <a:srgbClr val="FFFF00"/>
                </a:highlight>
              </a:rPr>
              <a:t>ɒ</a:t>
            </a:r>
            <a:r>
              <a:rPr lang="en-US" altLang="en-US" b="1">
                <a:highlight>
                  <a:srgbClr val="FFFF00"/>
                </a:highlight>
              </a:rPr>
              <a:t>ɡ</a:t>
            </a:r>
            <a:r>
              <a:rPr lang="" altLang="en-US" b="1">
                <a:highlight>
                  <a:srgbClr val="FFFF00"/>
                </a:highlight>
              </a:rPr>
              <a:t>ə</a:t>
            </a:r>
            <a:r>
              <a:rPr lang="en-US" altLang="zh-CN" b="1">
                <a:highlight>
                  <a:srgbClr val="FFFF00"/>
                </a:highlight>
              </a:rPr>
              <a:t>nl]</a:t>
            </a:r>
            <a:r>
              <a:t> Hadamard rotation applied to queries and keys before quantizing. It suppresses the heavy tails you can see in the figure -- and because it's orthogonal, it </a:t>
            </a:r>
            <a:r>
              <a:rPr lang="en-US"/>
              <a:t> exactly</a:t>
            </a:r>
            <a:r>
              <a:t> preserves attention scores.</a:t>
            </a:r>
          </a:p>
          <a:p>
            <a:endParaRPr/>
          </a:p>
          <a:p>
            <a:r>
              <a:t>The effect is dramatic. Look at the 2-bit column: plain round-to-nearest blows up to a perplexity of 115, while Hadamard rotation brings it down to 5.35 -- and it stays</a:t>
            </a:r>
            <a:r>
              <a:rPr b="1">
                <a:highlight>
                  <a:srgbClr val="FFFF00"/>
                </a:highlight>
              </a:rPr>
              <a:t> compatible</a:t>
            </a:r>
            <a:r>
              <a:rPr lang="en-US" altLang="zh-CN" b="1">
                <a:highlight>
                  <a:srgbClr val="FFFF00"/>
                </a:highlight>
              </a:rPr>
              <a:t>[k</a:t>
            </a:r>
            <a:r>
              <a:rPr lang="" altLang="en-US" b="1">
                <a:highlight>
                  <a:srgbClr val="FFFF00"/>
                </a:highlight>
              </a:rPr>
              <a:t>ə</a:t>
            </a:r>
            <a:r>
              <a:rPr lang="en-US" altLang="zh-CN" b="1">
                <a:highlight>
                  <a:srgbClr val="FFFF00"/>
                </a:highlight>
              </a:rPr>
              <a:t>mˈp</a:t>
            </a:r>
            <a:r>
              <a:rPr lang="" altLang="en-US" b="1">
                <a:highlight>
                  <a:srgbClr val="FFFF00"/>
                </a:highlight>
              </a:rPr>
              <a:t>æ</a:t>
            </a:r>
            <a:r>
              <a:rPr lang="en-US" altLang="zh-CN" b="1">
                <a:highlight>
                  <a:srgbClr val="FFFF00"/>
                </a:highlight>
              </a:rPr>
              <a:t>t</a:t>
            </a:r>
            <a:r>
              <a:rPr lang="" altLang="en-US" b="1">
                <a:highlight>
                  <a:srgbClr val="FFFF00"/>
                </a:highlight>
              </a:rPr>
              <a:t>ə</a:t>
            </a:r>
            <a:r>
              <a:rPr lang="en-US" altLang="zh-CN" b="1">
                <a:highlight>
                  <a:srgbClr val="FFFF00"/>
                </a:highlight>
              </a:rPr>
              <a:t>bl]</a:t>
            </a:r>
            <a:r>
              <a:rPr b="1">
                <a:highlight>
                  <a:srgbClr val="FFFF00"/>
                </a:highlight>
              </a:rPr>
              <a:t> </a:t>
            </a:r>
            <a:r>
              <a:t>with the sparsification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[5:55-6:50]  The final module is where compression turns into REAL speedup. We co-design the storage format and the decode kernel.</a:t>
            </a:r>
          </a:p>
          <a:p>
            <a:endParaRPr dirty="0"/>
          </a:p>
          <a:p>
            <a:r>
              <a:rPr dirty="0"/>
              <a:t>Each 1-by-64 tile stores a bitmap of nonzero positions, the packed low-bit values, a per-tile offset, and the quantization metadata -- scales and zero-points.</a:t>
            </a:r>
          </a:p>
          <a:p>
            <a:endParaRPr dirty="0"/>
          </a:p>
          <a:p>
            <a:r>
              <a:rPr dirty="0"/>
              <a:t>The kernel follows a load-as-compressed, compute-as-dense strategy: it loads the compact tiles from memory, unpacks and dequantizes them into dense shared-memory tiles, and then runs a standard Tensor-Core matrix-vector product.</a:t>
            </a:r>
          </a:p>
          <a:p>
            <a:endParaRPr dirty="0"/>
          </a:p>
          <a:p>
            <a:r>
              <a:rPr dirty="0"/>
              <a:t>So sparsity is handled entirely on the </a:t>
            </a:r>
            <a:r>
              <a:rPr lang="en-US" dirty="0"/>
              <a:t>loading </a:t>
            </a:r>
            <a:r>
              <a:rPr dirty="0"/>
              <a:t>path -- where the memory savings are -- while the compute stage stays dense and regular. That avoids the irregular memory access and control-flow </a:t>
            </a:r>
            <a:r>
              <a:rPr b="1" dirty="0">
                <a:highlight>
                  <a:srgbClr val="FFFF00"/>
                </a:highlight>
              </a:rPr>
              <a:t>divergence</a:t>
            </a:r>
            <a:r>
              <a:rPr lang="en-US" altLang="zh-CN" b="1" dirty="0">
                <a:highlight>
                  <a:srgbClr val="FFFF00"/>
                </a:highlight>
              </a:rPr>
              <a:t> [da</a:t>
            </a:r>
            <a:r>
              <a:rPr lang="" altLang="en-US" b="1" dirty="0">
                <a:highlight>
                  <a:srgbClr val="FFFF00"/>
                </a:highlight>
              </a:rPr>
              <a:t>ɪˈ</a:t>
            </a:r>
            <a:r>
              <a:rPr lang="en-US" altLang="zh-CN" b="1" dirty="0">
                <a:highlight>
                  <a:srgbClr val="FFFF00"/>
                </a:highlight>
              </a:rPr>
              <a:t>v</a:t>
            </a:r>
            <a:r>
              <a:rPr lang="" altLang="en-US" b="1" dirty="0">
                <a:highlight>
                  <a:srgbClr val="FFFF00"/>
                </a:highlight>
              </a:rPr>
              <a:t>ɜ</a:t>
            </a:r>
            <a:r>
              <a:rPr lang="en-US" altLang="en-US" b="1" dirty="0">
                <a:highlight>
                  <a:srgbClr val="FFFF00"/>
                </a:highlight>
              </a:rPr>
              <a:t>ː</a:t>
            </a:r>
            <a:r>
              <a:rPr lang="en-US" altLang="zh-CN" b="1" dirty="0">
                <a:highlight>
                  <a:srgbClr val="FFFF00"/>
                </a:highlight>
              </a:rPr>
              <a:t>d</a:t>
            </a:r>
            <a:r>
              <a:rPr lang="" altLang="en-US" b="1" dirty="0">
                <a:highlight>
                  <a:srgbClr val="FFFF00"/>
                </a:highlight>
              </a:rPr>
              <a:t>ʒə</a:t>
            </a:r>
            <a:r>
              <a:rPr lang="en-US" altLang="zh-CN" b="1" dirty="0">
                <a:highlight>
                  <a:srgbClr val="FFFF00"/>
                </a:highlight>
              </a:rPr>
              <a:t>ns]</a:t>
            </a:r>
            <a:r>
              <a:rPr dirty="0"/>
              <a:t> that usually kill sparse execution. This is exactly what a memory-bound decode stage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[6:50-7:30]  Now to the evaluation. Everything runs on a single A100 , with custom CUDA and Triton kernels.</a:t>
            </a:r>
          </a:p>
          <a:p>
            <a:endParaRPr dirty="0"/>
          </a:p>
          <a:p>
            <a:r>
              <a:rPr dirty="0"/>
              <a:t>For accuracy, we use the official </a:t>
            </a:r>
            <a:r>
              <a:rPr dirty="0" err="1"/>
              <a:t>LongBench</a:t>
            </a:r>
            <a:r>
              <a:rPr dirty="0"/>
              <a:t> pipeline on six representative tasks, with Llama-3-8B</a:t>
            </a:r>
            <a:r>
              <a:rPr lang="zh-CN" dirty="0"/>
              <a:t>（</a:t>
            </a:r>
            <a:r>
              <a:rPr lang="en-US" altLang="zh-CN" dirty="0"/>
              <a:t>billion</a:t>
            </a:r>
            <a:r>
              <a:rPr lang="zh-CN" altLang="en-US" dirty="0"/>
              <a:t>）</a:t>
            </a:r>
            <a:r>
              <a:rPr lang="en-US" altLang="zh-CN" dirty="0"/>
              <a:t> </a:t>
            </a:r>
            <a:r>
              <a:rPr dirty="0"/>
              <a:t>as the main model, plus Llama-2, Mistral, and Qwen2.5. For efficiency, we measure end-to-end throughput and compression cost at batch sizes one through eight.</a:t>
            </a:r>
          </a:p>
          <a:p>
            <a:endParaRPr dirty="0"/>
          </a:p>
          <a:p>
            <a:r>
              <a:rPr dirty="0"/>
              <a:t>Our baselines are dense decoding, a matched-budget uniform-sparsity baseline based on MUSTAFAR, and the sequential MUSTAFAR-plus-KIVI pipeline -- which I'll call M-plus-K. We test both sparse-only and joint sparse-quant settings at 50 and 70 percent.</a:t>
            </a:r>
          </a:p>
          <a:p>
            <a:endParaRPr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[7:30-8:15]  First, sparsity ALONE, to isolate the effect of budget allocation -- no quantization yet.</a:t>
            </a:r>
          </a:p>
          <a:p>
            <a:endParaRPr dirty="0"/>
          </a:p>
          <a:p>
            <a:r>
              <a:rPr dirty="0"/>
              <a:t>The takeaway is on the right. Our differential policy is greater than or equal to uniform sparsity in EVERY setting -- it never hurts. And the gain is larger at the tighter 70 percent budget than at 50 percent.</a:t>
            </a:r>
          </a:p>
          <a:p>
            <a:endParaRPr dirty="0"/>
          </a:p>
          <a:p>
            <a:r>
              <a:rPr dirty="0"/>
              <a:t>That confirms </a:t>
            </a:r>
            <a:r>
              <a:rPr lang="en-US" dirty="0"/>
              <a:t> that </a:t>
            </a:r>
            <a:r>
              <a:rPr dirty="0"/>
              <a:t>: token-level budget allocation matters most exactly when the budget is scarce</a:t>
            </a:r>
            <a:r>
              <a:rPr lang="en-US" altLang="zh-CN" dirty="0"/>
              <a:t>/</a:t>
            </a:r>
            <a:r>
              <a:rPr lang="en-US" altLang="zh-CN" dirty="0" err="1"/>
              <a:t>ske</a:t>
            </a:r>
            <a:r>
              <a:rPr lang="" altLang="en-US" dirty="0"/>
              <a:t>ə</a:t>
            </a:r>
            <a:r>
              <a:rPr lang="en-US" altLang="zh-CN" dirty="0"/>
              <a:t>s/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[8:15-9:15]  Now the main result -- the FULL joint sparse-quant pipeline against the sequential M-plus-K baseline, averaged over the six tasks.</a:t>
            </a:r>
          </a:p>
          <a:p>
            <a:endParaRPr/>
          </a:p>
          <a:p>
            <a:r>
              <a:t>JSQKV wins in ALL FOUR settings, and the gap </a:t>
            </a:r>
            <a:r>
              <a:rPr lang="en-US" b="1">
                <a:highlight>
                  <a:srgbClr val="FFFF00"/>
                </a:highlight>
              </a:rPr>
              <a:t>widens</a:t>
            </a:r>
            <a:r>
              <a:rPr lang="en-US" altLang="zh-CN" b="1">
                <a:highlight>
                  <a:srgbClr val="FFFF00"/>
                </a:highlight>
              </a:rPr>
              <a:t>/ˈwa</a:t>
            </a:r>
            <a:r>
              <a:rPr lang="" altLang="en-US" b="1">
                <a:highlight>
                  <a:srgbClr val="FFFF00"/>
                </a:highlight>
              </a:rPr>
              <a:t>ɪ</a:t>
            </a:r>
            <a:r>
              <a:rPr lang="en-US" altLang="zh-CN" b="1">
                <a:highlight>
                  <a:srgbClr val="FFFF00"/>
                </a:highlight>
              </a:rPr>
              <a:t>dnz/</a:t>
            </a:r>
            <a:r>
              <a:t> as compression gets more aggressive. At the most aggressive setting, 70/70 with 2-bit, the average score jumps from </a:t>
            </a:r>
            <a:r>
              <a:rPr b="1">
                <a:highlight>
                  <a:srgbClr val="FFFF00"/>
                </a:highlight>
              </a:rPr>
              <a:t>39.83 to 43.12</a:t>
            </a:r>
            <a:r>
              <a:t> -- a gain of over three points.</a:t>
            </a:r>
          </a:p>
          <a:p>
            <a:endParaRPr/>
          </a:p>
          <a:p>
            <a:r>
              <a:t>Why does JSQKV win? Because jointly aligning sparsity, quantization, and execution beats stacking two methods that were never designed to work together. The cross-model results tell the same story -- favorable overall, and strongest under tight budgets.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[9:15-10:10]  And crucially, this quality holds up while delivering REAL speedup. On the left, end-to-end throughput versus batch size: the compressed paths pull ahead of dense decoding, with the clearest advantage in the small-to-medium batch regime. Overall, JSQKV improves end-to-end throughput by up to 44 percent over dense decoding.</a:t>
            </a:r>
          </a:p>
          <a:p>
            <a:endParaRPr/>
          </a:p>
          <a:p>
            <a:r>
              <a:t>On the right, compression statistics. Compared to sparse-only MUSTAFAR-70, our sparse-quant path pushes the compression ratio from 2.09x up to 3.48x -- and, notably, it ALSO LOWERS the compression time. So the more compact representation even cuts the write-back cost. Better compression and faster --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[10:10-11:00]  </a:t>
            </a:r>
            <a:r>
              <a:rPr lang="en-US"/>
              <a:t>The Conclusion</a:t>
            </a:r>
            <a:r>
              <a:t> is that KV-cache compression should be treated as a </a:t>
            </a:r>
            <a:r>
              <a:rPr b="1"/>
              <a:t>systems-and-algorithms</a:t>
            </a:r>
            <a:r>
              <a:rPr lang="" altLang="en-US" b="1"/>
              <a:t>[ˈæ</a:t>
            </a:r>
            <a:r>
              <a:rPr lang="en-US" altLang="zh-CN" b="1"/>
              <a:t>l</a:t>
            </a:r>
            <a:r>
              <a:rPr lang="en-US" altLang="en-US" b="1"/>
              <a:t>ɡ</a:t>
            </a:r>
            <a:r>
              <a:rPr lang="" altLang="en-US" b="1"/>
              <a:t>ə</a:t>
            </a:r>
            <a:r>
              <a:rPr lang="en-US" altLang="zh-CN" b="1"/>
              <a:t>r</a:t>
            </a:r>
            <a:r>
              <a:rPr lang="" altLang="en-US" b="1"/>
              <a:t>ɪðə</a:t>
            </a:r>
            <a:r>
              <a:rPr lang="en-US" altLang="zh-CN" b="1"/>
              <a:t>m]</a:t>
            </a:r>
            <a:r>
              <a:t> co-design problem -- not a simple composition of independent post-processing steps.</a:t>
            </a:r>
          </a:p>
          <a:p>
            <a:endParaRPr/>
          </a:p>
          <a:p>
            <a:r>
              <a:t>JSQKV brings together four pieces: differential sparsity, the dual-window online mechanism, Hadamard-stabilized Per-Token-Tile quantization, and the sparse-quant kernel that turns compression into speedup.</a:t>
            </a:r>
          </a:p>
          <a:p>
            <a:endParaRPr/>
          </a:p>
          <a:p>
            <a:r>
              <a:t>And the headline numbers, on Llama-3-8B: the average score improves from 39.83 to 43.12, throughput improves by 44 percent, and the KV cache is compressed by 3.48 times -- all at the same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[11:00-11:15]  That's JSQKV. Thank you very much for your attention -- I'd be happy to take your questions.</a:t>
            </a:r>
          </a:p>
          <a:p>
            <a:endParaRPr dirty="0"/>
          </a:p>
          <a:p>
            <a:r>
              <a:rPr dirty="0"/>
              <a:t>[Total ~11:15, ~45s buffer before 12:00, then 3-min Q&amp;A.]</a:t>
            </a:r>
          </a:p>
          <a:p>
            <a:endParaRPr dirty="0"/>
          </a:p>
          <a:p>
            <a:r>
              <a:rPr dirty="0"/>
              <a:t>Likely Q&amp;A: why differential beats uniform under tight budgets; overhead of the dual-window buffer; why gains shrink at large batch sizes (compute-bound -&gt; </a:t>
            </a:r>
            <a:r>
              <a:rPr dirty="0" err="1"/>
              <a:t>dequant</a:t>
            </a:r>
            <a:r>
              <a:rPr dirty="0"/>
              <a:t> overhead less amortized); cross-model variance (</a:t>
            </a:r>
            <a:r>
              <a:rPr dirty="0" err="1"/>
              <a:t>Qwen</a:t>
            </a:r>
            <a:r>
              <a:rPr dirty="0"/>
              <a:t> gains big, Llama-2 modest).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0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380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2438704" cy="109728"/>
          </a:xfrm>
          <a:prstGeom prst="rect">
            <a:avLst/>
          </a:prstGeom>
          <a:solidFill>
            <a:srgbClr val="7E0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438704" y="5989320"/>
            <a:ext cx="2438704" cy="109728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877408" y="5989320"/>
            <a:ext cx="2438704" cy="109728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6112" y="5989320"/>
            <a:ext cx="2438704" cy="109728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754816" y="5989320"/>
            <a:ext cx="2438704" cy="109728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960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79ABD"/>
                </a:solidFill>
                <a:latin typeface="Arial" panose="020B0604020202020204"/>
              </a:rPr>
              <a:t>KV-CACHE COMPRESSION  ·  LLM INFERENCE ACCELERATION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554480"/>
            <a:ext cx="1060704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Arial" panose="020B0604020202020204"/>
              </a:rPr>
              <a:t>JSQKV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0E3ED"/>
                </a:solidFill>
                <a:latin typeface="Arial" panose="020B0604020202020204"/>
              </a:rPr>
              <a:t>Joint Sparsification and Quantization for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0E3ED"/>
                </a:solidFill>
                <a:latin typeface="Arial" panose="020B0604020202020204"/>
              </a:rPr>
              <a:t>KV-Cache Compression and Decode Acceleration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77639"/>
            <a:ext cx="106070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Arial" panose="020B0604020202020204"/>
              </a:rPr>
              <a:t>Hao Zhang¹   ·   Xiaoli Gong¹*   ·   Haoran Li¹   ·   Huayou Su²   ·   Qingxia Chen³   ·   Jin Zhang¹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CDAFC5"/>
                </a:solidFill>
                <a:latin typeface="Arial" panose="020B0604020202020204"/>
              </a:rPr>
              <a:t>¹ College of Computer Science, Nankai University, Tianjin, China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CDAFC5"/>
                </a:solidFill>
                <a:latin typeface="Arial" panose="020B0604020202020204"/>
              </a:rPr>
              <a:t>² National University of Defense Technology, Changsha    ³ Qian Xuesen Laboratory of Space Technology, Beijing</a:t>
            </a: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 i="1">
                <a:solidFill>
                  <a:srgbClr val="B592AB"/>
                </a:solidFill>
                <a:latin typeface="Arial" panose="020B0604020202020204"/>
              </a:rPr>
              <a:t>* Corresponding author   ·   Code: github.com/Haozon/JSQKV</a:t>
            </a:r>
          </a:p>
        </p:txBody>
      </p:sp>
      <p:pic>
        <p:nvPicPr>
          <p:cNvPr id="13" name="Picture 1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6845" y="411480"/>
            <a:ext cx="1371600" cy="6987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E0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7E0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7E0C6E"/>
                </a:solidFill>
                <a:latin typeface="Arial" panose="020B0604020202020204"/>
              </a:rPr>
              <a:t>MOTIVATION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The KV-Cache Is the Bottleneck of Long-Context Decoding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9893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7E0C6E"/>
                </a:solidFill>
                <a:latin typeface="Arial" panose="020B0604020202020204"/>
              </a:rPr>
              <a:t>Autoregressive decoding is increasingly memory-bound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i="0">
                <a:solidFill>
                  <a:srgbClr val="7E0C6E"/>
                </a:solidFill>
                <a:latin typeface="Arial" panose="020B0604020202020204"/>
              </a:rPr>
              <a:t>▸  </a:t>
            </a:r>
            <a:r>
              <a:rPr sz="1450" b="0" i="0">
                <a:solidFill>
                  <a:srgbClr val="1F2D3D"/>
                </a:solidFill>
                <a:latin typeface="Arial" panose="020B0604020202020204"/>
              </a:rPr>
              <a:t>The KV cache grows linearly with context length and is re-read at every decode step.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i="0">
                <a:solidFill>
                  <a:srgbClr val="7E0C6E"/>
                </a:solidFill>
                <a:latin typeface="Arial" panose="020B0604020202020204"/>
              </a:rPr>
              <a:t>▸  </a:t>
            </a:r>
            <a:r>
              <a:rPr sz="1450" b="0" i="0">
                <a:solidFill>
                  <a:srgbClr val="1F2D3D"/>
                </a:solidFill>
                <a:latin typeface="Arial" panose="020B0604020202020204"/>
              </a:rPr>
              <a:t>In long-context serving it dominates memory footprint and bandwidth, capping throughput, batch size, and deployment efficiency.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i="0">
                <a:solidFill>
                  <a:srgbClr val="7E0C6E"/>
                </a:solidFill>
                <a:latin typeface="Arial" panose="020B0604020202020204"/>
              </a:rPr>
              <a:t>▸  </a:t>
            </a:r>
            <a:r>
              <a:rPr sz="1450" b="0" i="0">
                <a:solidFill>
                  <a:srgbClr val="1F2D3D"/>
                </a:solidFill>
                <a:latin typeface="Arial" panose="020B0604020202020204"/>
              </a:rPr>
              <a:t>Decoding is far more memory-bound than prefill — bandwidth, not compute, is the limiter.</a:t>
            </a:r>
          </a:p>
          <a:p>
            <a:pPr algn="l">
              <a:lnSpc>
                <a:spcPct val="106000"/>
              </a:lnSpc>
              <a:spcBef>
                <a:spcPts val="800"/>
              </a:spcBef>
              <a:spcAft>
                <a:spcPts val="800"/>
              </a:spcAft>
            </a:pPr>
            <a:r>
              <a:rPr sz="1700" b="1" i="0">
                <a:solidFill>
                  <a:srgbClr val="7E0C6E"/>
                </a:solidFill>
                <a:latin typeface="Arial" panose="020B0604020202020204"/>
              </a:rPr>
              <a:t>Two mainstream compression directions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C9862E"/>
                </a:solidFill>
                <a:latin typeface="Arial" panose="020B0604020202020204"/>
              </a:rPr>
              <a:t>•  </a:t>
            </a:r>
            <a:r>
              <a:rPr sz="1400" b="0" i="0">
                <a:solidFill>
                  <a:srgbClr val="1F2D3D"/>
                </a:solidFill>
                <a:latin typeface="Arial" panose="020B0604020202020204"/>
              </a:rPr>
              <a:t>Sparsification — evict/prune less useful KV states (StreamingLLM, H₂O, SnapKV, MUSTAFAR).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4F8A63"/>
                </a:solidFill>
                <a:latin typeface="Arial" panose="020B0604020202020204"/>
              </a:rPr>
              <a:t>•  </a:t>
            </a:r>
            <a:r>
              <a:rPr sz="1400" b="0" i="0">
                <a:solidFill>
                  <a:srgbClr val="1F2D3D"/>
                </a:solidFill>
                <a:latin typeface="Arial" panose="020B0604020202020204"/>
              </a:rPr>
              <a:t>Low-bit quantization — reduce numerical precision of retained states (KIVI, KVQuant, QuaRot).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874519"/>
            <a:ext cx="48463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78040" y="2148839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F2D3D"/>
                </a:solidFill>
                <a:latin typeface="Arial" panose="020B0604020202020204"/>
              </a:rPr>
              <a:t>Why it matters at decode 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78040" y="2834639"/>
            <a:ext cx="100584" cy="822960"/>
          </a:xfrm>
          <a:prstGeom prst="rect">
            <a:avLst/>
          </a:prstGeom>
          <a:solidFill>
            <a:srgbClr val="7E0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06640" y="2816351"/>
            <a:ext cx="39319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7E0C6E"/>
                </a:solidFill>
                <a:latin typeface="Arial" panose="020B0604020202020204"/>
              </a:rPr>
              <a:t>Linear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Arial" panose="020B0604020202020204"/>
              </a:rPr>
              <a:t>KV memory grows with sequence length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3858767"/>
            <a:ext cx="100584" cy="822960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06640" y="3840479"/>
            <a:ext cx="39319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74639E"/>
                </a:solidFill>
                <a:latin typeface="Arial" panose="020B0604020202020204"/>
              </a:rPr>
              <a:t>Every step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Arial" panose="020B0604020202020204"/>
              </a:rPr>
              <a:t>entire cache re-read during decoding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78040" y="4882895"/>
            <a:ext cx="100584" cy="822960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4864607"/>
            <a:ext cx="39319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B55050"/>
                </a:solidFill>
                <a:latin typeface="Arial" panose="020B0604020202020204"/>
              </a:rPr>
              <a:t>Memory-bound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Arial" panose="020B0604020202020204"/>
              </a:rPr>
              <a:t>bandwidth is the true limiter, not FLOPs</a:t>
            </a:r>
          </a:p>
        </p:txBody>
      </p:sp>
      <p:pic>
        <p:nvPicPr>
          <p:cNvPr id="16" name="Picture 15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8093" y="256032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6387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 dirty="0">
                <a:solidFill>
                  <a:srgbClr val="B55050"/>
                </a:solidFill>
                <a:latin typeface="Arial" panose="020B0604020202020204"/>
              </a:rPr>
              <a:t>PROBLEM &amp; CHALLENGE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 dirty="0">
                <a:solidFill>
                  <a:srgbClr val="1F2D3D"/>
                </a:solidFill>
                <a:latin typeface="Arial" panose="020B0604020202020204"/>
              </a:rPr>
              <a:t>Na</a:t>
            </a:r>
            <a:r>
              <a:rPr lang="en-US" sz="2700" b="1" i="0" dirty="0">
                <a:solidFill>
                  <a:srgbClr val="1F2D3D"/>
                </a:solidFill>
                <a:latin typeface="Arial" panose="020B0604020202020204"/>
              </a:rPr>
              <a:t>i</a:t>
            </a:r>
            <a:r>
              <a:rPr sz="2700" b="1" i="0" dirty="0">
                <a:solidFill>
                  <a:srgbClr val="1F2D3D"/>
                </a:solidFill>
                <a:latin typeface="Arial" panose="020B0604020202020204"/>
              </a:rPr>
              <a:t>ve “</a:t>
            </a:r>
            <a:r>
              <a:rPr sz="2700" b="1" i="0" dirty="0" err="1">
                <a:solidFill>
                  <a:srgbClr val="1F2D3D"/>
                </a:solidFill>
                <a:latin typeface="Arial" panose="020B0604020202020204"/>
              </a:rPr>
              <a:t>Sparsify</a:t>
            </a:r>
            <a:r>
              <a:rPr sz="2700" b="1" i="0" dirty="0">
                <a:solidFill>
                  <a:srgbClr val="1F2D3D"/>
                </a:solidFill>
                <a:latin typeface="Arial" panose="020B0604020202020204"/>
              </a:rPr>
              <a:t>-then-Quantize” Does Not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F2D3D"/>
                </a:solidFill>
                <a:latin typeface="Arial" panose="020B0604020202020204"/>
              </a:rPr>
              <a:t>Both directions are effective, but they are still studied in isolation. Simply chaining them fails to jointly preserve quality and deliver real end-to-end speedup.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4320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F6E7E7"/>
          </a:solidFill>
          <a:ln w="15875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999232"/>
            <a:ext cx="4892040" cy="1874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B55050"/>
                </a:solidFill>
                <a:latin typeface="Arial" panose="020B0604020202020204"/>
              </a:rPr>
              <a:t>①  Representation &amp; execution gap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D3D"/>
                </a:solidFill>
                <a:latin typeface="Arial" panose="020B0604020202020204"/>
              </a:rPr>
              <a:t>Sparsification changes not just how much KV is kept, but the retained token/feature layout.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D3D"/>
                </a:solidFill>
                <a:latin typeface="Arial" panose="020B0604020202020204"/>
              </a:rPr>
              <a:t>This shifts quantization granularity, compressed layout, and the decode kernel — so algorithmic compression gains do not automatically become lower memory traffic.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74320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ECE8F3"/>
          </a:solidFill>
          <a:ln w="15875">
            <a:solidFill>
              <a:srgbClr val="7463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2999232"/>
            <a:ext cx="4892040" cy="1874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74639E"/>
                </a:solidFill>
                <a:latin typeface="Arial" panose="020B0604020202020204"/>
              </a:rPr>
              <a:t>②  Online decision gap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D3D"/>
                </a:solidFill>
                <a:latin typeface="Arial" panose="020B0604020202020204"/>
              </a:rPr>
              <a:t>Token-differential compression is easy to estimate in prefill, where future attention is observable.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D3D"/>
                </a:solidFill>
                <a:latin typeface="Arial" panose="020B0604020202020204"/>
              </a:rPr>
              <a:t>But at decode time a token must be cached before its future importance can be known — the policy is not directly applicable online.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49240"/>
            <a:ext cx="11201400" cy="868680"/>
          </a:xfrm>
          <a:prstGeom prst="roundRect">
            <a:avLst>
              <a:gd name="adj" fmla="val 6000"/>
            </a:avLst>
          </a:prstGeom>
          <a:solidFill>
            <a:srgbClr val="4A0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Arial" panose="020B0604020202020204"/>
              </a:rPr>
              <a:t>Key challenge: preserve model quality under aggressive compression  AND  keep the compressed representation directly executable for real decode-time acceleration.</a:t>
            </a:r>
          </a:p>
        </p:txBody>
      </p:sp>
      <p:pic>
        <p:nvPicPr>
          <p:cNvPr id="14" name="Picture 13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8093" y="256032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E0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7E0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7E0C6E"/>
                </a:solidFill>
                <a:latin typeface="Arial" panose="020B0604020202020204"/>
              </a:rPr>
              <a:t>OUR APPROACH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JSQKV: A Unified Sparse-Quant Decode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B6B7B"/>
                </a:solidFill>
                <a:latin typeface="Arial" panose="020B0604020202020204"/>
              </a:rPr>
              <a:t>Co-design compression policy → compressed format → execution path in one decode-stage pipeline.</a:t>
            </a:r>
          </a:p>
        </p:txBody>
      </p:sp>
      <p:pic>
        <p:nvPicPr>
          <p:cNvPr id="8" name="Picture 7" descr="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2859" y="2148840"/>
            <a:ext cx="6581522" cy="27889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5212080"/>
            <a:ext cx="2706624" cy="1051560"/>
          </a:xfrm>
          <a:prstGeom prst="roundRect">
            <a:avLst>
              <a:gd name="adj" fmla="val 6000"/>
            </a:avLst>
          </a:prstGeom>
          <a:solidFill>
            <a:srgbClr val="F7EEDC"/>
          </a:solidFill>
          <a:ln w="15875">
            <a:solidFill>
              <a:srgbClr val="C98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5212080"/>
            <a:ext cx="2706624" cy="91440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" y="539496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862E"/>
                </a:solidFill>
                <a:latin typeface="Arial" panose="020B0604020202020204"/>
              </a:rPr>
              <a:t>① Differential Sparsity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D3D"/>
                </a:solidFill>
                <a:latin typeface="Arial" panose="020B0604020202020204"/>
              </a:rPr>
              <a:t>budgeted 3-level token policy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2988" y="5212080"/>
            <a:ext cx="2706624" cy="1051560"/>
          </a:xfrm>
          <a:prstGeom prst="roundRect">
            <a:avLst>
              <a:gd name="adj" fmla="val 6000"/>
            </a:avLst>
          </a:prstGeom>
          <a:solidFill>
            <a:srgbClr val="ECE8F3"/>
          </a:solidFill>
          <a:ln w="15875">
            <a:solidFill>
              <a:srgbClr val="7463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32988" y="5212080"/>
            <a:ext cx="2706624" cy="91440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97580" y="539496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74639E"/>
                </a:solidFill>
                <a:latin typeface="Arial" panose="020B0604020202020204"/>
              </a:rPr>
              <a:t>② Dual-Window Online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D3D"/>
                </a:solidFill>
                <a:latin typeface="Arial" panose="020B0604020202020204"/>
              </a:rPr>
              <a:t>apply policy during decoding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6" y="5212080"/>
            <a:ext cx="2706624" cy="1051560"/>
          </a:xfrm>
          <a:prstGeom prst="roundRect">
            <a:avLst>
              <a:gd name="adj" fmla="val 6000"/>
            </a:avLst>
          </a:prstGeom>
          <a:solidFill>
            <a:srgbClr val="E6F0E9"/>
          </a:solidFill>
          <a:ln w="15875">
            <a:solidFill>
              <a:srgbClr val="4F8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63056" y="5212080"/>
            <a:ext cx="2706624" cy="91440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27648" y="539496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4F8A63"/>
                </a:solidFill>
                <a:latin typeface="Arial" panose="020B0604020202020204"/>
              </a:rPr>
              <a:t>③ Per-Token-Tile Quant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D3D"/>
                </a:solidFill>
                <a:latin typeface="Arial" panose="020B0604020202020204"/>
              </a:rPr>
              <a:t>Hadamard-stabilized low-bit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3124" y="5212080"/>
            <a:ext cx="2706624" cy="1051560"/>
          </a:xfrm>
          <a:prstGeom prst="roundRect">
            <a:avLst>
              <a:gd name="adj" fmla="val 6000"/>
            </a:avLst>
          </a:prstGeom>
          <a:solidFill>
            <a:srgbClr val="F6E7E7"/>
          </a:solidFill>
          <a:ln w="15875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993124" y="5212080"/>
            <a:ext cx="2706624" cy="91440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57716" y="539496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B55050"/>
                </a:solidFill>
                <a:latin typeface="Arial" panose="020B0604020202020204"/>
              </a:rPr>
              <a:t>④ Sparse-Quant Kernel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D3D"/>
                </a:solidFill>
                <a:latin typeface="Arial" panose="020B0604020202020204"/>
              </a:rPr>
              <a:t>load-compressed, compute-dense</a:t>
            </a:r>
          </a:p>
        </p:txBody>
      </p:sp>
      <p:pic>
        <p:nvPicPr>
          <p:cNvPr id="21" name="Picture 20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8093" y="256032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862E"/>
                </a:solidFill>
                <a:latin typeface="Arial" panose="020B0604020202020204"/>
              </a:rPr>
              <a:t>METHOD · MODULE 1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Budgeted Differential Sparsity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8521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9862E"/>
                </a:solidFill>
                <a:latin typeface="Arial" panose="020B0604020202020204"/>
              </a:rPr>
              <a:t>Idea: not all tokens deserve the same compression.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0" i="0">
                <a:solidFill>
                  <a:srgbClr val="1F2D3D"/>
                </a:solidFill>
                <a:latin typeface="Arial" panose="020B0604020202020204"/>
              </a:rPr>
              <a:t>A fixed sparsity ratio wastes budget on unimportant tokens and over-compresses important ones.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F2D3D"/>
                </a:solidFill>
                <a:latin typeface="Arial" panose="020B0604020202020204"/>
              </a:rPr>
              <a:t>Estimate importance from prefill attention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C9862E"/>
                </a:solidFill>
                <a:latin typeface="Arial" panose="020B0604020202020204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 panose="020B0604020202020204"/>
              </a:rPr>
              <a:t>Score = mean attention a token receives from the last L_obs observation-window queries (SnapKV-style), length-normalized.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F2D3D"/>
                </a:solidFill>
                <a:latin typeface="Arial" panose="020B0604020202020204"/>
              </a:rPr>
              <a:t>Assign each token to one of three levels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9862E"/>
                </a:solidFill>
                <a:latin typeface="Arial" panose="020B0604020202020204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 panose="020B0604020202020204"/>
              </a:rPr>
              <a:t>Two percentile thresholds (τ_high, τ_low) split tokens under the target average budget B = p₁ρ₁ + p₂.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9862E"/>
                </a:solidFill>
                <a:latin typeface="Arial" panose="020B0604020202020204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 panose="020B0604020202020204"/>
              </a:rPr>
              <a:t>A small calibration search picks the (p₀, ρ₁) allocation at fixed 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1828800"/>
            <a:ext cx="4983480" cy="1170432"/>
          </a:xfrm>
          <a:prstGeom prst="roundRect">
            <a:avLst>
              <a:gd name="adj" fmla="val 6000"/>
            </a:avLst>
          </a:prstGeom>
          <a:solidFill>
            <a:srgbClr val="E6F0E9"/>
          </a:solidFill>
          <a:ln w="15875">
            <a:solidFill>
              <a:srgbClr val="4F8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720840" y="1828800"/>
            <a:ext cx="109728" cy="1170432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40880" y="1993392"/>
            <a:ext cx="443484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4F8A63"/>
                </a:solidFill>
                <a:latin typeface="Arial" panose="020B0604020202020204"/>
              </a:rPr>
              <a:t>Level 0 — Dense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Arial" panose="020B0604020202020204"/>
              </a:rPr>
              <a:t>Most important tokens kept fully (ρ₀ = 0).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3145536"/>
            <a:ext cx="4983480" cy="1170432"/>
          </a:xfrm>
          <a:prstGeom prst="roundRect">
            <a:avLst>
              <a:gd name="adj" fmla="val 6000"/>
            </a:avLst>
          </a:prstGeom>
          <a:solidFill>
            <a:srgbClr val="F7EEDC"/>
          </a:solidFill>
          <a:ln w="15875">
            <a:solidFill>
              <a:srgbClr val="C98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720840" y="3145536"/>
            <a:ext cx="109728" cy="1170432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40880" y="3310128"/>
            <a:ext cx="443484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C9862E"/>
                </a:solidFill>
                <a:latin typeface="Arial" panose="020B0604020202020204"/>
              </a:rPr>
              <a:t>Level 1 — Partial Sparse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Arial" panose="020B0604020202020204"/>
              </a:rPr>
              <a:t>Keep only top-magnitude features per key/value vector (ratio ρ₁).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4462272"/>
            <a:ext cx="4983480" cy="1170432"/>
          </a:xfrm>
          <a:prstGeom prst="roundRect">
            <a:avLst>
              <a:gd name="adj" fmla="val 6000"/>
            </a:avLst>
          </a:prstGeom>
          <a:solidFill>
            <a:srgbClr val="F6E7E7"/>
          </a:solidFill>
          <a:ln w="15875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720840" y="4462272"/>
            <a:ext cx="109728" cy="1170432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40880" y="4626864"/>
            <a:ext cx="443484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B55050"/>
                </a:solidFill>
                <a:latin typeface="Arial" panose="020B0604020202020204"/>
              </a:rPr>
              <a:t>Level 2 — Evict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Arial" panose="020B0604020202020204"/>
              </a:rPr>
              <a:t>Least important tokens removed from cache (ρ₂ = 1).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5779008"/>
            <a:ext cx="4983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B6B7B"/>
                </a:solidFill>
                <a:latin typeface="Arial" panose="020B0604020202020204"/>
              </a:rPr>
              <a:t>Result: larger gains at tighter (70%) budgets — token-level allocation matters most when budget is scarce.</a:t>
            </a:r>
          </a:p>
        </p:txBody>
      </p:sp>
      <p:pic>
        <p:nvPicPr>
          <p:cNvPr id="18" name="Picture 17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8093" y="256032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74639E"/>
                </a:solidFill>
                <a:latin typeface="Arial" panose="020B0604020202020204"/>
              </a:rPr>
              <a:t>METHOD · MODULE 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Dual-Window Online Execution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2471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F2D3D"/>
                </a:solidFill>
                <a:latin typeface="Arial" panose="020B0604020202020204"/>
              </a:rPr>
              <a:t>Challenge: the differential policy needs future attention, which is unavailable when a token is first generated. Solution: delay compression until enough future evidence is accumulated.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9748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E4E8EE"/>
          </a:solidFill>
          <a:ln w="19050">
            <a:solidFill>
              <a:srgbClr val="5B6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898648"/>
            <a:ext cx="274320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5B6B7B"/>
                </a:solidFill>
                <a:latin typeface="Arial" panose="020B0604020202020204"/>
              </a:rPr>
              <a:t>Compressed History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already fixed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697480"/>
            <a:ext cx="3840480" cy="1234440"/>
          </a:xfrm>
          <a:prstGeom prst="roundRect">
            <a:avLst>
              <a:gd name="adj" fmla="val 6000"/>
            </a:avLst>
          </a:prstGeom>
          <a:solidFill>
            <a:srgbClr val="F3DFDF"/>
          </a:solidFill>
          <a:ln w="19050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29000" y="2898648"/>
            <a:ext cx="384048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B55050"/>
                </a:solidFill>
                <a:latin typeface="Arial" panose="020B0604020202020204"/>
              </a:rPr>
              <a:t>Window A  (to compress)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accumulates future attention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697480"/>
            <a:ext cx="4251960" cy="1234440"/>
          </a:xfrm>
          <a:prstGeom prst="roundRect">
            <a:avLst>
              <a:gd name="adj" fmla="val 6000"/>
            </a:avLst>
          </a:prstGeom>
          <a:solidFill>
            <a:srgbClr val="DDE6F4"/>
          </a:solidFill>
          <a:ln w="19050">
            <a:solidFill>
              <a:srgbClr val="7E0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52360" y="2898648"/>
            <a:ext cx="42519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7E0C6E"/>
                </a:solidFill>
                <a:latin typeface="Arial" panose="020B0604020202020204"/>
              </a:rPr>
              <a:t>Window B  (observation)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newly generated tokens supply evidence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532120" y="4160520"/>
            <a:ext cx="2194560" cy="128016"/>
          </a:xfrm>
          <a:prstGeom prst="rightArrow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20640" y="43434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74639E"/>
                </a:solidFill>
                <a:latin typeface="Arial" panose="020B0604020202020204"/>
              </a:rPr>
              <a:t>queries in B observe 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800600"/>
            <a:ext cx="364845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D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4800600"/>
            <a:ext cx="3648456" cy="73152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04088" y="4983480"/>
            <a:ext cx="32461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74639E"/>
                </a:solidFill>
                <a:latin typeface="Arial" panose="020B0604020202020204"/>
              </a:rPr>
              <a:t>1 · Accumulate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Each new query's attention to Window A is summed in a buffer while B fills.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9392" y="4800600"/>
            <a:ext cx="364845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D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79392" y="4800600"/>
            <a:ext cx="3648456" cy="73152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80560" y="4983480"/>
            <a:ext cx="32461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74639E"/>
                </a:solidFill>
                <a:latin typeface="Arial" panose="020B0604020202020204"/>
              </a:rPr>
              <a:t>2 · Normalize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Divide by #observations N⁽ⁱ⁾ = 2W−1−i, since earlier tokens are seen by more queries.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5864" y="4800600"/>
            <a:ext cx="364845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D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55864" y="4800600"/>
            <a:ext cx="3648456" cy="73152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2" y="4983480"/>
            <a:ext cx="32461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74639E"/>
                </a:solidFill>
                <a:latin typeface="Arial" panose="020B0604020202020204"/>
              </a:rPr>
              <a:t>3 · Classify &amp; slide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Compare to reused (τ_high, τ_low) → merge compressed A; B becomes new 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1996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B6B7B"/>
                </a:solidFill>
                <a:latin typeface="Arial" panose="020B0604020202020204"/>
              </a:rPr>
              <a:t>Each token is observed before compression, while uncompressed tokens stay bounded by O(W). Prefill-estimated thresholds are shown to be stable enough to reuse (Appendix).</a:t>
            </a:r>
          </a:p>
        </p:txBody>
      </p:sp>
      <p:pic>
        <p:nvPicPr>
          <p:cNvPr id="26" name="Picture 25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8093" y="256032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4F8A63"/>
                </a:solidFill>
                <a:latin typeface="Arial" panose="020B0604020202020204"/>
              </a:rPr>
              <a:t>METHOD · MODULE 3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Per-Token-Tile Quantization with Hadamard Rotation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48640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 i="0">
                <a:solidFill>
                  <a:srgbClr val="4F8A63"/>
                </a:solidFill>
                <a:latin typeface="Arial" panose="020B0604020202020204"/>
              </a:rPr>
              <a:t>Align the quantization unit with token-level decisions.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4F8A63"/>
                </a:solidFill>
                <a:latin typeface="Arial" panose="020B0604020202020204"/>
              </a:rPr>
              <a:t>▸  </a:t>
            </a:r>
            <a:r>
              <a:rPr sz="1350" b="0" i="0">
                <a:solidFill>
                  <a:srgbClr val="1F2D3D"/>
                </a:solidFill>
                <a:latin typeface="Arial" panose="020B0604020202020204"/>
              </a:rPr>
              <a:t>Split each key/value vector into contiguous tiles (size g); quantize each tile independently with its own scale &amp; zero-point.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4F8A63"/>
                </a:solidFill>
                <a:latin typeface="Arial" panose="020B0604020202020204"/>
              </a:rPr>
              <a:t>▸  </a:t>
            </a:r>
            <a:r>
              <a:rPr sz="1350" b="0" i="0">
                <a:solidFill>
                  <a:srgbClr val="1F2D3D"/>
                </a:solidFill>
                <a:latin typeface="Arial" panose="020B0604020202020204"/>
              </a:rPr>
              <a:t>Key states carry outliers that destabilize low-bit quantization.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4F8A63"/>
                </a:solidFill>
                <a:latin typeface="Arial" panose="020B0604020202020204"/>
              </a:rPr>
              <a:t>▸  </a:t>
            </a:r>
            <a:r>
              <a:rPr sz="1350" b="0" i="0">
                <a:solidFill>
                  <a:srgbClr val="1F2D3D"/>
                </a:solidFill>
                <a:latin typeface="Arial" panose="020B0604020202020204"/>
              </a:rPr>
              <a:t>Apply an orthogonal Hadamard rotation to Q and K before quantizing — it suppresses heavy tails while exactly preserving attention scores (q̃ᵀk̃ = qᵀk).</a:t>
            </a:r>
          </a:p>
        </p:txBody>
      </p:sp>
      <p:pic>
        <p:nvPicPr>
          <p:cNvPr id="8" name="Picture 7" descr="hadam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783080"/>
            <a:ext cx="5577840" cy="15868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3611880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B6B7B"/>
                </a:solidFill>
                <a:latin typeface="Arial" panose="020B0604020202020204"/>
              </a:rPr>
              <a:t>Key-state distribution before/after rotation (Llama-2-7B): heavy tail suppressed.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D3D"/>
                </a:solidFill>
                <a:latin typeface="Arial" panose="020B0604020202020204"/>
              </a:rPr>
              <a:t>WikiText-2 PPL — RTN vs. Hadamard rotation (lower is better)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4754880"/>
          <a:ext cx="7223760" cy="141732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Setting</a:t>
                      </a: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4-bit RTN</a:t>
                      </a: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4-bit Rot.</a:t>
                      </a: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3-bit RTN</a:t>
                      </a: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3-bit Rot.</a:t>
                      </a: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2-bit RTN</a:t>
                      </a: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2-bit Rot.</a:t>
                      </a: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Quant only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5.22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4F8A63"/>
                          </a:solidFill>
                          <a:latin typeface="Arial" panose="020B0604020202020204"/>
                        </a:rPr>
                        <a:t>5.14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6.57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4F8A63"/>
                          </a:solidFill>
                          <a:latin typeface="Arial" panose="020B0604020202020204"/>
                        </a:rPr>
                        <a:t>5.28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115.55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4F8A63"/>
                          </a:solidFill>
                          <a:latin typeface="Arial" panose="020B0604020202020204"/>
                        </a:rPr>
                        <a:t>5.35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+50% KV sparsity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5.27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5.69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6.57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4F8A63"/>
                          </a:solidFill>
                          <a:latin typeface="Arial" panose="020B0604020202020204"/>
                        </a:rPr>
                        <a:t>6.35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115.55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4F8A63"/>
                          </a:solidFill>
                          <a:latin typeface="Arial" panose="020B0604020202020204"/>
                        </a:rPr>
                        <a:t>6.65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8001000" y="4754880"/>
            <a:ext cx="3703320" cy="1417320"/>
          </a:xfrm>
          <a:prstGeom prst="roundRect">
            <a:avLst>
              <a:gd name="adj" fmla="val 6000"/>
            </a:avLst>
          </a:prstGeom>
          <a:solidFill>
            <a:srgbClr val="E6F0E9"/>
          </a:solidFill>
          <a:ln w="15875">
            <a:solidFill>
              <a:srgbClr val="4F8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57032" y="4901184"/>
            <a:ext cx="320040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4F8A63"/>
                </a:solidFill>
                <a:latin typeface="Arial" panose="020B0604020202020204"/>
              </a:rPr>
              <a:t>115.55 → 5.35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2-bit PPL collapse is eliminated by Hadamard rotation, while staying compatible with subsequent sparsification.</a:t>
            </a:r>
          </a:p>
        </p:txBody>
      </p:sp>
      <p:pic>
        <p:nvPicPr>
          <p:cNvPr id="14" name="Picture 13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8093" y="256032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B55050"/>
                </a:solidFill>
                <a:latin typeface="Arial" panose="020B0604020202020204"/>
              </a:rPr>
              <a:t>METHOD · MODULE 4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Bitmap-Based Sparse-Quant Format &amp; Decode Kernel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19072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F2D3D"/>
                </a:solidFill>
                <a:latin typeface="Arial" panose="020B0604020202020204"/>
              </a:rPr>
              <a:t>Co-design storage format and kernel so compression cuts decode-time memory traffic — not just storage footprint.</a:t>
            </a:r>
          </a:p>
        </p:txBody>
      </p:sp>
      <p:pic>
        <p:nvPicPr>
          <p:cNvPr id="8" name="Picture 7" descr="sq_form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744" y="2468880"/>
            <a:ext cx="4695311" cy="2349451"/>
          </a:xfrm>
          <a:prstGeom prst="rect">
            <a:avLst/>
          </a:prstGeom>
        </p:spPr>
      </p:pic>
      <p:pic>
        <p:nvPicPr>
          <p:cNvPr id="9" name="Picture 8" descr="sq_oper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31720"/>
            <a:ext cx="3063240" cy="14443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0292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B6B7B"/>
                </a:solidFill>
                <a:latin typeface="Arial" panose="020B0604020202020204"/>
              </a:rPr>
              <a:t>(a) Format: bitmap + packed low-bit values + metadata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502920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B6B7B"/>
                </a:solidFill>
                <a:latin typeface="Arial" panose="020B0604020202020204"/>
              </a:rPr>
              <a:t>(b) Load-as-compressed, compute-as-dense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64040" y="2331720"/>
            <a:ext cx="2240280" cy="2697480"/>
          </a:xfrm>
          <a:prstGeom prst="roundRect">
            <a:avLst>
              <a:gd name="adj" fmla="val 6000"/>
            </a:avLst>
          </a:prstGeom>
          <a:solidFill>
            <a:srgbClr val="4A0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65208" y="2514600"/>
            <a:ext cx="1837944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Arial" panose="020B0604020202020204"/>
              </a:rPr>
              <a:t>Each 1×64 tile stores: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B55050"/>
                </a:solidFill>
                <a:latin typeface="Arial" panose="020B0604020202020204"/>
              </a:rPr>
              <a:t>·  </a:t>
            </a:r>
            <a:r>
              <a:rPr sz="1150" b="0" i="0">
                <a:solidFill>
                  <a:srgbClr val="E7D3E2"/>
                </a:solidFill>
                <a:latin typeface="Arial" panose="020B0604020202020204"/>
              </a:rPr>
              <a:t>Bitmap of nonzeros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B55050"/>
                </a:solidFill>
                <a:latin typeface="Arial" panose="020B0604020202020204"/>
              </a:rPr>
              <a:t>·  </a:t>
            </a:r>
            <a:r>
              <a:rPr sz="1150" b="0" i="0">
                <a:solidFill>
                  <a:srgbClr val="E7D3E2"/>
                </a:solidFill>
                <a:latin typeface="Arial" panose="020B0604020202020204"/>
              </a:rPr>
              <a:t>Packed low-bit values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B55050"/>
                </a:solidFill>
                <a:latin typeface="Arial" panose="020B0604020202020204"/>
              </a:rPr>
              <a:t>·  </a:t>
            </a:r>
            <a:r>
              <a:rPr sz="1150" b="0" i="0">
                <a:solidFill>
                  <a:srgbClr val="E7D3E2"/>
                </a:solidFill>
                <a:latin typeface="Arial" panose="020B0604020202020204"/>
              </a:rPr>
              <a:t>Per-tile offset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B55050"/>
                </a:solidFill>
                <a:latin typeface="Arial" panose="020B0604020202020204"/>
              </a:rPr>
              <a:t>·  </a:t>
            </a:r>
            <a:r>
              <a:rPr sz="1150" b="0" i="0">
                <a:solidFill>
                  <a:srgbClr val="E7D3E2"/>
                </a:solidFill>
                <a:latin typeface="Arial" panose="020B0604020202020204"/>
              </a:rPr>
              <a:t>Scales / zero-points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E7D3E2"/>
                </a:solidFill>
                <a:latin typeface="Arial" panose="020B0604020202020204"/>
              </a:rPr>
              <a:t>Kernel loads compressed tiles, unpacks + dequantizes into dense shared memory, then runs Tensor-Core MatVec.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44068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F2D3D"/>
                </a:solidFill>
                <a:latin typeface="Arial" panose="020B0604020202020204"/>
              </a:rPr>
              <a:t>Sparsity is handled on the loading path; the compute stage stays dense and regular — avoiding irregular access and control-flow divergence that usually limit sparse execution.</a:t>
            </a:r>
          </a:p>
        </p:txBody>
      </p:sp>
      <p:pic>
        <p:nvPicPr>
          <p:cNvPr id="15" name="Picture 14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58093" y="256032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E0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7E0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7E0C6E"/>
                </a:solidFill>
                <a:latin typeface="Arial" panose="020B0604020202020204"/>
              </a:rPr>
              <a:t>EVALUATION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Experimental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724912" cy="2514600"/>
          </a:xfrm>
          <a:prstGeom prst="roundRect">
            <a:avLst>
              <a:gd name="adj" fmla="val 6000"/>
            </a:avLst>
          </a:prstGeom>
          <a:solidFill>
            <a:srgbClr val="F5E7F2"/>
          </a:solidFill>
          <a:ln w="15875">
            <a:solidFill>
              <a:srgbClr val="7E0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2724912" cy="457200"/>
          </a:xfrm>
          <a:prstGeom prst="roundRect">
            <a:avLst>
              <a:gd name="adj" fmla="val 6000"/>
            </a:avLst>
          </a:prstGeom>
          <a:solidFill>
            <a:srgbClr val="7E0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2103119"/>
            <a:ext cx="2724912" cy="228600"/>
          </a:xfrm>
          <a:prstGeom prst="rect">
            <a:avLst/>
          </a:prstGeom>
          <a:solidFill>
            <a:srgbClr val="7E0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" y="1929383"/>
            <a:ext cx="250545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Arial" panose="020B0604020202020204"/>
              </a:rPr>
              <a:t>Hardware &amp; Stack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96311"/>
            <a:ext cx="235915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7E0C6E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1 × NVIDIA A100 80GB PCIe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7E0C6E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Intel Xeon CPU, 252 GB RAM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7E0C6E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Python 3.10 · PyTorch 2.6 · CUDA 12.4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7E0C6E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Custom CUDA / Triton kernels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1276" y="1874519"/>
            <a:ext cx="2724912" cy="2514600"/>
          </a:xfrm>
          <a:prstGeom prst="roundRect">
            <a:avLst>
              <a:gd name="adj" fmla="val 6000"/>
            </a:avLst>
          </a:prstGeom>
          <a:solidFill>
            <a:srgbClr val="E6F0E9"/>
          </a:solidFill>
          <a:ln w="15875">
            <a:solidFill>
              <a:srgbClr val="4F8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351276" y="1874519"/>
            <a:ext cx="2724912" cy="457200"/>
          </a:xfrm>
          <a:prstGeom prst="roundRect">
            <a:avLst>
              <a:gd name="adj" fmla="val 6000"/>
            </a:avLst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51276" y="2103119"/>
            <a:ext cx="2724912" cy="228600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61004" y="1929383"/>
            <a:ext cx="250545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Arial" panose="020B0604020202020204"/>
              </a:rPr>
              <a:t>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4156" y="2496311"/>
            <a:ext cx="235915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4F8A63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Llama-3-8B-Instruct  (main)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4F8A63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Llama-2-7B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4F8A63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Mistral-7B-v0.1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4F8A63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Qwen2.5-7B-Instruct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874519"/>
            <a:ext cx="2724912" cy="2514600"/>
          </a:xfrm>
          <a:prstGeom prst="roundRect">
            <a:avLst>
              <a:gd name="adj" fmla="val 6000"/>
            </a:avLst>
          </a:prstGeom>
          <a:solidFill>
            <a:srgbClr val="F7EEDC"/>
          </a:solidFill>
          <a:ln w="15875">
            <a:solidFill>
              <a:srgbClr val="C98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199632" y="1874519"/>
            <a:ext cx="2724912" cy="457200"/>
          </a:xfrm>
          <a:prstGeom prst="roundRect">
            <a:avLst>
              <a:gd name="adj" fmla="val 6000"/>
            </a:avLst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99632" y="2103119"/>
            <a:ext cx="2724912" cy="228600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9360" y="1929383"/>
            <a:ext cx="250545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Arial" panose="020B0604020202020204"/>
              </a:rPr>
              <a:t>Accuracy Protocol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496311"/>
            <a:ext cx="235915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C9862E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LongBench official pipeline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C9862E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6 tasks: NarrativeQA · Qasper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C9862E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MultiFieldQA-EN · HotpotQA · TREC · LCC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C9862E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Inputs truncated to 8192 (head-tail)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47988" y="1874519"/>
            <a:ext cx="2724912" cy="2514600"/>
          </a:xfrm>
          <a:prstGeom prst="roundRect">
            <a:avLst>
              <a:gd name="adj" fmla="val 6000"/>
            </a:avLst>
          </a:prstGeom>
          <a:solidFill>
            <a:srgbClr val="F6E7E7"/>
          </a:solidFill>
          <a:ln w="15875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047988" y="1874519"/>
            <a:ext cx="2724912" cy="457200"/>
          </a:xfrm>
          <a:prstGeom prst="roundRect">
            <a:avLst>
              <a:gd name="adj" fmla="val 6000"/>
            </a:avLst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047988" y="2103119"/>
            <a:ext cx="2724912" cy="228600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57716" y="1929383"/>
            <a:ext cx="250545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Arial" panose="020B0604020202020204"/>
              </a:rPr>
              <a:t>Efficiency Protocol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0868" y="2496311"/>
            <a:ext cx="235915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B55050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Llama-3-8B, 4096 in / 256 out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B55050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Batch size 1 – 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B55050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Throughput, compression time,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B55050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KV size &amp; ratio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709160"/>
            <a:ext cx="1120140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48737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F2D3D"/>
                </a:solidFill>
                <a:latin typeface="Arial" panose="020B0604020202020204"/>
              </a:rPr>
              <a:t>Baselines &amp; compression settings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276088"/>
            <a:ext cx="106984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7E0C6E"/>
                </a:solidFill>
                <a:latin typeface="Arial" panose="020B0604020202020204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 panose="020B0604020202020204"/>
              </a:rPr>
              <a:t>Baselines:  Dense decoding   ·   matched-budget Uniform sparsity (MUSTAFAR)   ·   sequential MUSTAFAR + KIVI  (denoted M+K).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9862E"/>
                </a:solidFill>
                <a:latin typeface="Arial" panose="020B0604020202020204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 panose="020B0604020202020204"/>
              </a:rPr>
              <a:t>Settings:  sparse-only at 50% / 70%   ·   joint sparse-quant at 50/50 &amp; 70/70 K/V sparsity with 4-bit and 2-bit quantization. Differential policies selected on a calibration split, re-checked on a disjoint validation split.</a:t>
            </a:r>
          </a:p>
        </p:txBody>
      </p:sp>
      <p:pic>
        <p:nvPicPr>
          <p:cNvPr id="30" name="Picture 29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8093" y="256032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862E"/>
                </a:solidFill>
                <a:latin typeface="Arial" panose="020B0604020202020204"/>
              </a:rPr>
              <a:t>RESULTS · 1/3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Accuracy — Differential Sparsity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247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B6B7B"/>
                </a:solidFill>
                <a:latin typeface="Arial" panose="020B0604020202020204"/>
              </a:rPr>
              <a:t>Isolating budget allocation (no quantization): Llama-3-8B-Instruct, 6 LongBench tasks, matched budget.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377440"/>
          <a:ext cx="7818114" cy="3063240"/>
        </p:xfrm>
        <a:graphic>
          <a:graphicData uri="http://schemas.openxmlformats.org/drawingml/2006/table">
            <a:tbl>
              <a:tblPr/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90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90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90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90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908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4908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908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105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Method</a:t>
                      </a:r>
                    </a:p>
                  </a:txBody>
                  <a:tcPr marL="36576" marR="36576" marT="18288" marB="18288" anchor="ctr">
                    <a:solidFill>
                      <a:srgbClr val="C986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NrtvQA</a:t>
                      </a:r>
                    </a:p>
                  </a:txBody>
                  <a:tcPr marL="36576" marR="36576" marT="18288" marB="18288" anchor="ctr">
                    <a:solidFill>
                      <a:srgbClr val="C986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Qasper</a:t>
                      </a:r>
                    </a:p>
                  </a:txBody>
                  <a:tcPr marL="36576" marR="36576" marT="18288" marB="18288" anchor="ctr">
                    <a:solidFill>
                      <a:srgbClr val="C986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MF-QA</a:t>
                      </a:r>
                    </a:p>
                  </a:txBody>
                  <a:tcPr marL="36576" marR="36576" marT="18288" marB="18288" anchor="ctr">
                    <a:solidFill>
                      <a:srgbClr val="C986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HotpotQA</a:t>
                      </a:r>
                    </a:p>
                  </a:txBody>
                  <a:tcPr marL="36576" marR="36576" marT="18288" marB="18288" anchor="ctr">
                    <a:solidFill>
                      <a:srgbClr val="C986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TREC</a:t>
                      </a:r>
                    </a:p>
                  </a:txBody>
                  <a:tcPr marL="36576" marR="36576" marT="18288" marB="18288" anchor="ctr">
                    <a:solidFill>
                      <a:srgbClr val="C986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LCC</a:t>
                      </a:r>
                    </a:p>
                  </a:txBody>
                  <a:tcPr marL="36576" marR="36576" marT="18288" marB="18288" anchor="ctr">
                    <a:solidFill>
                      <a:srgbClr val="C986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Avg.</a:t>
                      </a:r>
                    </a:p>
                  </a:txBody>
                  <a:tcPr marL="36576" marR="36576" marT="18288" marB="18288" anchor="ctr">
                    <a:solidFill>
                      <a:srgbClr val="C986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5B6B7B"/>
                          </a:solidFill>
                          <a:latin typeface="Arial" panose="020B0604020202020204"/>
                        </a:rPr>
                        <a:t>Dense</a:t>
                      </a:r>
                    </a:p>
                  </a:txBody>
                  <a:tcPr marL="36576" marR="36576" marT="18288" marB="18288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23.45</a:t>
                      </a:r>
                    </a:p>
                  </a:txBody>
                  <a:tcPr marL="36576" marR="36576" marT="18288" marB="18288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42.18</a:t>
                      </a:r>
                    </a:p>
                  </a:txBody>
                  <a:tcPr marL="36576" marR="36576" marT="18288" marB="18288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43.14</a:t>
                      </a:r>
                    </a:p>
                  </a:txBody>
                  <a:tcPr marL="36576" marR="36576" marT="18288" marB="18288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46.06</a:t>
                      </a:r>
                    </a:p>
                  </a:txBody>
                  <a:tcPr marL="36576" marR="36576" marT="18288" marB="18288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74.00</a:t>
                      </a:r>
                    </a:p>
                  </a:txBody>
                  <a:tcPr marL="36576" marR="36576" marT="18288" marB="18288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57.12</a:t>
                      </a:r>
                    </a:p>
                  </a:txBody>
                  <a:tcPr marL="36576" marR="36576" marT="18288" marB="18288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5B6B7B"/>
                          </a:solidFill>
                          <a:latin typeface="Arial" panose="020B0604020202020204"/>
                        </a:rPr>
                        <a:t>47.66</a:t>
                      </a:r>
                    </a:p>
                  </a:txBody>
                  <a:tcPr marL="36576" marR="36576" marT="18288" marB="18288" anchor="ctr">
                    <a:solidFill>
                      <a:srgbClr val="ECEF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Uniform-50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23.44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43.73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42.93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45.94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73.50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56.03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47.59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C9862E"/>
                          </a:solidFill>
                          <a:latin typeface="Arial" panose="020B0604020202020204"/>
                        </a:rPr>
                        <a:t>Differential-50</a:t>
                      </a: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23.44</a:t>
                      </a: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43.73</a:t>
                      </a: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42.93</a:t>
                      </a: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45.94</a:t>
                      </a: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74.00</a:t>
                      </a: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57.08</a:t>
                      </a: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9862E"/>
                          </a:solidFill>
                          <a:latin typeface="Arial" panose="020B0604020202020204"/>
                        </a:rPr>
                        <a:t>47.85</a:t>
                      </a: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Uniform-70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23.94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40.89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40.91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44.93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70.00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54.12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45.80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C9862E"/>
                          </a:solidFill>
                          <a:latin typeface="Arial" panose="020B0604020202020204"/>
                        </a:rPr>
                        <a:t>Differential-70</a:t>
                      </a: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23.94</a:t>
                      </a: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41.03</a:t>
                      </a: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41.61</a:t>
                      </a: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45.12</a:t>
                      </a: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72.50</a:t>
                      </a: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55.45</a:t>
                      </a: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9862E"/>
                          </a:solidFill>
                          <a:latin typeface="Arial" panose="020B0604020202020204"/>
                        </a:rPr>
                        <a:t>46.61</a:t>
                      </a: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595360" y="2377440"/>
            <a:ext cx="3108960" cy="3063240"/>
          </a:xfrm>
          <a:prstGeom prst="roundRect">
            <a:avLst>
              <a:gd name="adj" fmla="val 6000"/>
            </a:avLst>
          </a:prstGeom>
          <a:solidFill>
            <a:srgbClr val="F7EEDC"/>
          </a:solidFill>
          <a:ln w="15875">
            <a:solidFill>
              <a:srgbClr val="C98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51392" y="2633472"/>
            <a:ext cx="259689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9862E"/>
                </a:solidFill>
                <a:latin typeface="Arial" panose="020B0604020202020204"/>
              </a:rPr>
              <a:t>Takeaways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9862E"/>
                </a:solidFill>
                <a:latin typeface="Arial" panose="020B0604020202020204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 panose="020B0604020202020204"/>
              </a:rPr>
              <a:t>Differential ≥ uniform in every setting — never negative.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9862E"/>
                </a:solidFill>
                <a:latin typeface="Arial" panose="020B0604020202020204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 panose="020B0604020202020204"/>
              </a:rPr>
              <a:t>+0.81 avg at 70% vs +0.26 at 50%.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9862E"/>
                </a:solidFill>
                <a:latin typeface="Arial" panose="020B0604020202020204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 panose="020B0604020202020204"/>
              </a:rPr>
              <a:t>Token-level allocation matters more as the budget tightens.</a:t>
            </a:r>
          </a:p>
        </p:txBody>
      </p:sp>
      <p:pic>
        <p:nvPicPr>
          <p:cNvPr id="11" name="Picture 10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8093" y="256032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4F8A63"/>
                </a:solidFill>
                <a:latin typeface="Arial" panose="020B0604020202020204"/>
              </a:rPr>
              <a:t>RESULTS · 2/3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Accuracy — Joint Sparse-Quant (Main Result)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B6B7B"/>
                </a:solidFill>
                <a:latin typeface="Arial" panose="020B0604020202020204"/>
              </a:rPr>
              <a:t>Llama-3-8B-Instruct vs. sequential MUSTAFAR+KIVI (M+K) at matched budgets — average over 6 tasks.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331720"/>
          <a:ext cx="5943600" cy="320040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Setting</a:t>
                      </a: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M+K</a:t>
                      </a: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JSQKV</a:t>
                      </a: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50/50 + 4-bit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5B6B7B"/>
                          </a:solidFill>
                          <a:latin typeface="Arial" panose="020B0604020202020204"/>
                        </a:rPr>
                        <a:t>45.90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4F8A63"/>
                          </a:solidFill>
                          <a:latin typeface="Arial" panose="020B0604020202020204"/>
                        </a:rPr>
                        <a:t>45.93   (+0.03)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50/50 + 2-bit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5B6B7B"/>
                          </a:solidFill>
                          <a:latin typeface="Arial" panose="020B0604020202020204"/>
                        </a:rPr>
                        <a:t>43.38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4F8A63"/>
                          </a:solidFill>
                          <a:latin typeface="Arial" panose="020B0604020202020204"/>
                        </a:rPr>
                        <a:t>44.02   (+0.64)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70/70 + 4-bit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5B6B7B"/>
                          </a:solidFill>
                          <a:latin typeface="Arial" panose="020B0604020202020204"/>
                        </a:rPr>
                        <a:t>44.18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4F8A63"/>
                          </a:solidFill>
                          <a:latin typeface="Arial" panose="020B0604020202020204"/>
                        </a:rPr>
                        <a:t>45.34   (+1.16)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70/70 + 2-bit</a:t>
                      </a:r>
                    </a:p>
                  </a:txBody>
                  <a:tcPr marL="36576" marR="36576" marT="18288" marB="18288" anchor="ctr">
                    <a:solidFill>
                      <a:srgbClr val="E6F0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5B6B7B"/>
                          </a:solidFill>
                          <a:latin typeface="Arial" panose="020B0604020202020204"/>
                        </a:rPr>
                        <a:t>39.83</a:t>
                      </a:r>
                    </a:p>
                  </a:txBody>
                  <a:tcPr marL="36576" marR="36576" marT="18288" marB="18288" anchor="ctr">
                    <a:solidFill>
                      <a:srgbClr val="E6F0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4F8A63"/>
                          </a:solidFill>
                          <a:latin typeface="Arial" panose="020B0604020202020204"/>
                        </a:rPr>
                        <a:t>43.12   (+3.29)</a:t>
                      </a:r>
                    </a:p>
                  </a:txBody>
                  <a:tcPr marL="36576" marR="36576" marT="18288" marB="18288" anchor="ctr">
                    <a:solidFill>
                      <a:srgbClr val="E6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20840" y="2331720"/>
            <a:ext cx="4983480" cy="1508760"/>
          </a:xfrm>
          <a:prstGeom prst="roundRect">
            <a:avLst>
              <a:gd name="adj" fmla="val 6000"/>
            </a:avLst>
          </a:prstGeom>
          <a:solidFill>
            <a:srgbClr val="4A0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40880" y="2532888"/>
            <a:ext cx="434340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 panose="020B0604020202020204"/>
              </a:rPr>
              <a:t>39.83  →  43.12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7D3E2"/>
                </a:solidFill>
                <a:latin typeface="Arial" panose="020B0604020202020204"/>
              </a:rPr>
              <a:t>Largest gain at the most aggressive 70/70 + 2-bit setting (+3.29 avg).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4023360"/>
            <a:ext cx="498348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40880" y="4206240"/>
            <a:ext cx="4343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4F8A63"/>
                </a:solidFill>
                <a:latin typeface="Arial" panose="020B0604020202020204"/>
              </a:rPr>
              <a:t>Why JSQKV wins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Arial" panose="020B0604020202020204"/>
              </a:rPr>
              <a:t>JSQKV beats M+K in all four settings; the gap widens as compression gets more aggressive — evidence that jointly aligning sparsity, quantization and execution beats a sequential pipeline.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57784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B6B7B"/>
                </a:solidFill>
                <a:latin typeface="Arial" panose="020B0604020202020204"/>
              </a:rPr>
              <a:t>Cross-model (Llama-2 / Mistral / Qwen2.5): favorable but non-uniform, strongest under tight budgets.</a:t>
            </a:r>
          </a:p>
        </p:txBody>
      </p:sp>
      <p:pic>
        <p:nvPicPr>
          <p:cNvPr id="14" name="Picture 13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8093" y="256032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B55050"/>
                </a:solidFill>
                <a:latin typeface="Arial" panose="020B0604020202020204"/>
              </a:rPr>
              <a:t>RESULTS · 3/3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Efficiency — Throughput &amp; Compression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12</a:t>
            </a:r>
          </a:p>
        </p:txBody>
      </p:sp>
      <p:pic>
        <p:nvPicPr>
          <p:cNvPr id="7" name="Picture 6" descr="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5669280" cy="35495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394960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B6B7B"/>
                </a:solidFill>
                <a:latin typeface="Arial" panose="020B0604020202020204"/>
              </a:rPr>
              <a:t>End-to-end decoding throughput vs. batch size (Llama-3-8B).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303520" cy="1417320"/>
          </a:xfrm>
          <a:prstGeom prst="roundRect">
            <a:avLst>
              <a:gd name="adj" fmla="val 6000"/>
            </a:avLst>
          </a:prstGeom>
          <a:solidFill>
            <a:srgbClr val="F6E7E7"/>
          </a:solidFill>
          <a:ln w="15875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93408" y="1993392"/>
            <a:ext cx="4718304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B55050"/>
                </a:solidFill>
                <a:latin typeface="Arial" panose="020B0604020202020204"/>
              </a:rPr>
              <a:t>+44.2%  end-to-end throughput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Arial" panose="020B0604020202020204"/>
              </a:rPr>
              <a:t>over dense decoding in long-context serving (70/70 + 2-bit); clearest gains in the small-to-medium batch regime.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42900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F2D3D"/>
                </a:solidFill>
                <a:latin typeface="Arial" panose="020B0604020202020204"/>
              </a:rPr>
              <a:t>Compression statistics (input 4096) — sparsity-only vs. sparse-quant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3840480"/>
          <a:ext cx="5303520" cy="1874519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Method (BS=8)</a:t>
                      </a:r>
                    </a:p>
                  </a:txBody>
                  <a:tcPr marL="36576" marR="36576" marT="18288" marB="18288" anchor="ctr">
                    <a:solidFill>
                      <a:srgbClr val="B5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KV (MB)</a:t>
                      </a:r>
                    </a:p>
                  </a:txBody>
                  <a:tcPr marL="36576" marR="36576" marT="18288" marB="18288" anchor="ctr">
                    <a:solidFill>
                      <a:srgbClr val="B5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Ratio</a:t>
                      </a:r>
                    </a:p>
                  </a:txBody>
                  <a:tcPr marL="36576" marR="36576" marT="18288" marB="18288" anchor="ctr">
                    <a:solidFill>
                      <a:srgbClr val="B55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Time (ms)</a:t>
                      </a:r>
                    </a:p>
                  </a:txBody>
                  <a:tcPr marL="36576" marR="36576" marT="18288" marB="18288" anchor="ctr">
                    <a:solidFill>
                      <a:srgbClr val="B55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Sparse-50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2720.2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1.51×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5688.2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Sparse-70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1964.3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2.09×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5411.3</a:t>
                      </a: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Sparse-50 + 2b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1261.2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3.25×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4317.9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07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Sparse-70 + 2b</a:t>
                      </a:r>
                    </a:p>
                  </a:txBody>
                  <a:tcPr marL="36576" marR="36576" marT="18288" marB="18288" anchor="ctr">
                    <a:solidFill>
                      <a:srgbClr val="F6E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1176.3</a:t>
                      </a:r>
                    </a:p>
                  </a:txBody>
                  <a:tcPr marL="36576" marR="36576" marT="18288" marB="18288" anchor="ctr">
                    <a:solidFill>
                      <a:srgbClr val="F6E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B55050"/>
                          </a:solidFill>
                          <a:latin typeface="Arial" panose="020B0604020202020204"/>
                        </a:rPr>
                        <a:t>3.48×</a:t>
                      </a:r>
                    </a:p>
                  </a:txBody>
                  <a:tcPr marL="36576" marR="36576" marT="18288" marB="18288" anchor="ctr">
                    <a:solidFill>
                      <a:srgbClr val="F6E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4293.2</a:t>
                      </a:r>
                    </a:p>
                  </a:txBody>
                  <a:tcPr marL="36576" marR="36576" marT="18288" marB="18288" anchor="ctr">
                    <a:solidFill>
                      <a:srgbClr val="F6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0" y="5806440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B6B7B"/>
                </a:solidFill>
                <a:latin typeface="Arial" panose="020B0604020202020204"/>
              </a:rPr>
              <a:t>Higher compression ratio (2.09× → 3.48×) AND lower compression time (5411 → 4293 ms): the compact sparse-quant representation also cuts write-back cost.</a:t>
            </a:r>
          </a:p>
        </p:txBody>
      </p:sp>
      <p:pic>
        <p:nvPicPr>
          <p:cNvPr id="14" name="Picture 13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8093" y="256032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E0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7E0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7E0C6E"/>
                </a:solidFill>
                <a:latin typeface="Arial" panose="020B0604020202020204"/>
              </a:rPr>
              <a:t>SUMMARY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11556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D3D"/>
                </a:solidFill>
                <a:latin typeface="Arial" panose="020B0604020202020204"/>
              </a:rPr>
              <a:t>JSQKV treats KV-cache compression as a systems-and-algorithms co-design problem — not a simple composition of independent post-processing steps.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43200"/>
            <a:ext cx="2724912" cy="1600200"/>
          </a:xfrm>
          <a:prstGeom prst="roundRect">
            <a:avLst>
              <a:gd name="adj" fmla="val 6000"/>
            </a:avLst>
          </a:prstGeom>
          <a:solidFill>
            <a:srgbClr val="F7EEDC"/>
          </a:solidFill>
          <a:ln w="15875">
            <a:solidFill>
              <a:srgbClr val="C98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2743200"/>
            <a:ext cx="2724912" cy="82296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962656"/>
            <a:ext cx="235915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9862E"/>
                </a:solidFill>
                <a:latin typeface="Arial" panose="020B0604020202020204"/>
              </a:rPr>
              <a:t>Differential sparsity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3-level, budgeted token allocation from prefill attention.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1276" y="2743200"/>
            <a:ext cx="2724912" cy="1600200"/>
          </a:xfrm>
          <a:prstGeom prst="roundRect">
            <a:avLst>
              <a:gd name="adj" fmla="val 6000"/>
            </a:avLst>
          </a:prstGeom>
          <a:solidFill>
            <a:srgbClr val="ECE8F3"/>
          </a:solidFill>
          <a:ln w="15875">
            <a:solidFill>
              <a:srgbClr val="7463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51276" y="2743200"/>
            <a:ext cx="2724912" cy="82296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34156" y="2962656"/>
            <a:ext cx="235915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4639E"/>
                </a:solidFill>
                <a:latin typeface="Arial" panose="020B0604020202020204"/>
              </a:rPr>
              <a:t>Dual-window online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Makes the policy applicable during autoregressive decoding.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2743200"/>
            <a:ext cx="2724912" cy="1600200"/>
          </a:xfrm>
          <a:prstGeom prst="roundRect">
            <a:avLst>
              <a:gd name="adj" fmla="val 6000"/>
            </a:avLst>
          </a:prstGeom>
          <a:solidFill>
            <a:srgbClr val="E6F0E9"/>
          </a:solidFill>
          <a:ln w="15875">
            <a:solidFill>
              <a:srgbClr val="4F8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99632" y="2743200"/>
            <a:ext cx="2724912" cy="82296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82512" y="2962656"/>
            <a:ext cx="235915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4F8A63"/>
                </a:solidFill>
                <a:latin typeface="Arial" panose="020B0604020202020204"/>
              </a:rPr>
              <a:t>Per-Token-Tile quant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Hadamard-stabilized low-bit representation aligned to tiles.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7988" y="2743200"/>
            <a:ext cx="2724912" cy="1600200"/>
          </a:xfrm>
          <a:prstGeom prst="roundRect">
            <a:avLst>
              <a:gd name="adj" fmla="val 6000"/>
            </a:avLst>
          </a:prstGeom>
          <a:solidFill>
            <a:srgbClr val="F6E7E7"/>
          </a:solidFill>
          <a:ln w="15875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047988" y="2743200"/>
            <a:ext cx="2724912" cy="82296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30868" y="2962656"/>
            <a:ext cx="235915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B55050"/>
                </a:solidFill>
                <a:latin typeface="Arial" panose="020B0604020202020204"/>
              </a:rPr>
              <a:t>Sparse-quant kernel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Load-compressed / compute-dense: turns compression into speedup.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709160"/>
            <a:ext cx="11201400" cy="1600200"/>
          </a:xfrm>
          <a:prstGeom prst="roundRect">
            <a:avLst>
              <a:gd name="adj" fmla="val 6000"/>
            </a:avLst>
          </a:prstGeom>
          <a:solidFill>
            <a:srgbClr val="4A0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4910328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79ABD"/>
                </a:solidFill>
                <a:latin typeface="Arial" panose="020B0604020202020204"/>
              </a:rPr>
              <a:t>Headline results (Llama-3-8B-Instruct)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330952"/>
            <a:ext cx="3383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Arial" panose="020B0604020202020204"/>
              </a:rPr>
              <a:t>39.83 → 43.12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D8BFD0"/>
                </a:solidFill>
                <a:latin typeface="Arial" panose="020B0604020202020204"/>
              </a:rPr>
              <a:t>avg score, 70/70+2-bit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330952"/>
            <a:ext cx="3383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Arial" panose="020B0604020202020204"/>
              </a:rPr>
              <a:t>+44.2%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D8BFD0"/>
                </a:solidFill>
                <a:latin typeface="Arial" panose="020B0604020202020204"/>
              </a:rPr>
              <a:t>end-to-end throughput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5330952"/>
            <a:ext cx="3383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Arial" panose="020B0604020202020204"/>
              </a:rPr>
              <a:t>3.48×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D8BFD0"/>
                </a:solidFill>
                <a:latin typeface="Arial" panose="020B0604020202020204"/>
              </a:rPr>
              <a:t>KV-cache compression</a:t>
            </a:r>
          </a:p>
        </p:txBody>
      </p:sp>
      <p:pic>
        <p:nvPicPr>
          <p:cNvPr id="25" name="Picture 24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8093" y="256032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0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438704" cy="128016"/>
          </a:xfrm>
          <a:prstGeom prst="rect">
            <a:avLst/>
          </a:prstGeom>
          <a:solidFill>
            <a:srgbClr val="7E0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2438704" cy="128016"/>
          </a:xfrm>
          <a:prstGeom prst="rect">
            <a:avLst/>
          </a:prstGeom>
          <a:solidFill>
            <a:srgbClr val="7E0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438704" y="0"/>
            <a:ext cx="2438704" cy="128016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438704" y="6729984"/>
            <a:ext cx="2438704" cy="128016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877408" y="0"/>
            <a:ext cx="2438704" cy="128016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77408" y="6729984"/>
            <a:ext cx="2438704" cy="128016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6112" y="0"/>
            <a:ext cx="2438704" cy="128016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16112" y="6729984"/>
            <a:ext cx="2438704" cy="128016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754816" y="0"/>
            <a:ext cx="2438704" cy="128016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754816" y="6729984"/>
            <a:ext cx="2438704" cy="128016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233172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5400" b="1" i="0">
                <a:solidFill>
                  <a:srgbClr val="FFFFFF"/>
                </a:solidFill>
                <a:latin typeface="Arial" panose="020B0604020202020204"/>
              </a:rPr>
              <a:t>Thank You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D8BFD0"/>
                </a:solidFill>
                <a:latin typeface="Arial" panose="020B0604020202020204"/>
              </a:rPr>
              <a:t>Questions &amp; Discussion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DAFC5"/>
                </a:solidFill>
                <a:latin typeface="Arial" panose="020B0604020202020204"/>
              </a:rPr>
              <a:t>JSQKV — Joint Sparsification and Quantization for KV-Cache Compression and Decode Acceleration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592AB"/>
                </a:solidFill>
                <a:latin typeface="Arial" panose="020B0604020202020204"/>
              </a:rPr>
              <a:t>Hao Zhang, Xiaoli Gong*, Haoran Li, Huayou Su, Qingxia Chen, Jin Zhang   ·   Nankai University</a:t>
            </a:r>
          </a:p>
          <a:p>
            <a:pPr algn="l">
              <a:lnSpc>
                <a:spcPct val="106000"/>
              </a:lnSpc>
              <a:spcBef>
                <a:spcPts val="300"/>
              </a:spcBef>
              <a:spcAft>
                <a:spcPts val="600"/>
              </a:spcAft>
            </a:pPr>
            <a:r>
              <a:rPr sz="1250" b="0" i="1">
                <a:solidFill>
                  <a:srgbClr val="B592AB"/>
                </a:solidFill>
                <a:latin typeface="Arial" panose="020B0604020202020204"/>
              </a:rPr>
              <a:t>Code:  github.com/Haozon/JSQKV</a:t>
            </a:r>
          </a:p>
        </p:txBody>
      </p:sp>
      <p:pic>
        <p:nvPicPr>
          <p:cNvPr id="16" name="Picture 15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565" y="457200"/>
            <a:ext cx="1280160" cy="65215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3401</Words>
  <Application>Microsoft Macintosh PowerPoint</Application>
  <PresentationFormat>宽屏</PresentationFormat>
  <Paragraphs>354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dc:description>generated using python-pptx</dc:description>
  <cp:lastModifiedBy>zhanghao.1362</cp:lastModifiedBy>
  <cp:revision>5</cp:revision>
  <dcterms:created xsi:type="dcterms:W3CDTF">2013-01-27T09:14:00Z</dcterms:created>
  <dcterms:modified xsi:type="dcterms:W3CDTF">2026-07-29T09:17:09Z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ECF24BDAC2FD4709893D50E65A5F223A_12</vt:lpwstr>
  </property>
</Properties>
</file>