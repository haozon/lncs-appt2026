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2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[0:00-0:30]  Good morning / afternoon, everyone. Thank you for being here. My name is Hao Zhang, from the College of Computer Science at Nankai University. Today I'll present our work, JSQKV -- a joint sparsification and quantization framework for KV-cache compression and decode acceleration.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[0:30-1:20]  Let me start with the problem. As context windows keep growing, the real bottleneck of autoregressive decoding is no longer computation -- it's the KV cache.</a:t>
            </a:r>
          </a:p>
          <a:p/>
          <a:p>
            <a:r>
              <a:t>The KV cache grows LINEARLY with context length, and it is re-read at EVERY single decode step. So in long-context serving, it dominates memory footprint and memory bandwidth, and it caps throughput, batch size, and deployment efficiency. The key point on the right: decoding is memory-bound</a:t>
            </a:r>
          </a:p>
          <a:p/>
          <a:p>
            <a:r>
              <a:t>To address this, the community has two main directions: sparsification -- evicting or pruning less useful KV states -- and low-bit quantization -- reducing the numerical precision of what's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[1:20-2:10]  Both directions work well on their own. The natural idea is to simply combine them -- sparsify, then quantize. But that naive chaining DOES NOT work, for two reasons.</a:t>
            </a:r>
          </a:p>
          <a:p/>
          <a:p>
            <a:r>
              <a:t>First, a representation-and-execution gap. Sparsification changes not just how MUCH KV you keep, but the retained token and feature LAYOUT. That shifts quantization granularity, the compressed data layout, and the decode kernel -- so algorithmic compression gains don't automatically become lower memory traffic.</a:t>
            </a:r>
          </a:p>
          <a:p/>
          <a:p>
            <a:r>
              <a:t>Second, an online-decision gap. Token-differential compression is easy in prefill, where future attention is observable. But during decoding, a token must be cached </a:t>
            </a:r>
            <a:r>
              <a:rPr lang="en-US"/>
              <a:t>before</a:t>
            </a:r>
            <a:r>
              <a:t> we know how important it will be.</a:t>
            </a:r>
          </a:p>
          <a:p/>
          <a:p>
            <a:r>
              <a:t>So the real challenge, at the bottom: preserve model quality under aggressive compression, </a:t>
            </a:r>
            <a:r>
              <a:rPr lang="en-US"/>
              <a:t>and</a:t>
            </a:r>
            <a:r>
              <a:t> keep the compressed representation directly executable for real speedup.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[2:10-2:55]  Our answer is JSQKV -- a unified sparse-quant decode pipeline. Instead of treating sparsity and quantization as separate post-processing steps, we co-design three things together: the compression POLICY, the compressed FORMAT, and the EXECUTION path.</a:t>
            </a:r>
          </a:p>
          <a:p/>
          <a:p>
            <a:r>
              <a:t>Concretely, there are four contributions, shown along the bottom, and I'll walk through each: differential sparsity -- a budgeted three-level token policy; a dual-window mechanism that makes it work online; Per-Token-Tile quantization with Hadamard rotation; and a bitmap-based sparse-quant kernel that loads compressed but computes dense.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[2:55-3:55]  First module: budgeted differential sparsity. The idea is simple -- not all tokens deserve the same compression. A fixed sparsity ratio wastes budget on unimportant tokens and over-compresses important ones.</a:t>
            </a:r>
          </a:p>
          <a:p/>
          <a:p>
            <a:r>
              <a:t>So we estimate token importance from prefill attention: each token's score is the average attention it receives from the last few observation-window queries, in the SnapKV style, length-normalized.</a:t>
            </a:r>
          </a:p>
          <a:p/>
          <a:p>
            <a:r>
              <a:t>Then we assign every token to one of three levels, shown on the right. Level 0 -- the most important -- stays dense. Level 1 keeps only the top-magnitude features in its key and value vectors. Level 2 -- the least important -- is evicted entirely. Two percentile thresholds split the tokens under a target average budget B, and a small calibration search picks the best allocation at that fixed budget. As we'll see, this matters most when the budget is tight.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[3:55-4:55]  But that policy needs future attention -- which we don't have when a token is first generated. That's the second module: the dual-window mechanism.</a:t>
            </a:r>
          </a:p>
          <a:p/>
          <a:p>
            <a:r>
              <a:t>The trick is to DELAY compression until enough future evidence accumulates. We keep two windows. Window A holds tokens waiting to be compressed. Window B holds newly generated tokens, and their queries OBSERVE Window A, supplying the missing future attention.</a:t>
            </a:r>
          </a:p>
          <a:p/>
          <a:p>
            <a:r>
              <a:t>Three steps: we accumulate each new query's attention to Window A; we normalize by the number of observations -- since earlier tokens are seen by more queries; and we classify and slide -- comparing against the same thresholds, compressing Window A into history, and Window B becomes the new Window A.</a:t>
            </a:r>
          </a:p>
          <a:p/>
          <a:p>
            <a:r>
              <a:t>Importantly, each token is observed before it's compressed, and the number of uncompressed tokens stays bounded.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[4:55-5:55]  Third module: quantizing what remains. We use Per-Token-Tile quantization -- splitting each key or value vector into small tiles and quantizing each tile independently with its own scale and zero-point. This aligns the quantization unit with our token-level decisions and the tile-based decode path.</a:t>
            </a:r>
          </a:p>
          <a:p/>
          <a:p>
            <a:r>
              <a:t>The problem is that key states carry OUTLIERS that wreck aggressive low-bit quantization. Our fix is an </a:t>
            </a:r>
            <a:r>
              <a:rPr b="1">
                <a:highlight>
                  <a:srgbClr val="FFFF00"/>
                </a:highlight>
              </a:rPr>
              <a:t>orthogonal</a:t>
            </a:r>
            <a:r>
              <a:t> Hadamard rotation applied to queries and keys before </a:t>
            </a:r>
            <a:r>
              <a:rPr>
                <a:highlight>
                  <a:srgbClr val="00FF00"/>
                </a:highlight>
              </a:rPr>
              <a:t>quantizing. It</a:t>
            </a:r>
            <a:r>
              <a:t> suppresses the heavy tails you can see in the figure -- and because it's orthogonal, it </a:t>
            </a:r>
            <a:r>
              <a:rPr lang="en-US"/>
              <a:t> exactly</a:t>
            </a:r>
            <a:r>
              <a:t> preserves attention scores.</a:t>
            </a:r>
          </a:p>
          <a:p/>
          <a:p>
            <a:r>
              <a:t>The effect is dramatic. Look at the 2-bit column: plain round-to-nearest blows up to a perplexity of 115, while Hadamard rotation brings it down to 5.35 -- and it stays</a:t>
            </a:r>
            <a:r>
              <a:rPr b="1">
                <a:highlight>
                  <a:srgbClr val="FFFF00"/>
                </a:highlight>
              </a:rPr>
              <a:t> compatible </a:t>
            </a:r>
            <a:r>
              <a:t>with the sparsification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[5:55-6:50]  The final module is where compression turns into REAL speedup. We co-design the storage format and the decode kernel.</a:t>
            </a:r>
          </a:p>
          <a:p/>
          <a:p>
            <a:r>
              <a:t>Each 1-by-64 tile stores a bitmap of nonzero positions, the packed low-bit values, a per-tile offset, and the quantization metadata -- scales and zero-points.</a:t>
            </a:r>
          </a:p>
          <a:p/>
          <a:p>
            <a:r>
              <a:t>The kernel follows a load-as-compressed, compute-as-dense strategy: it loads the compact tiles from memory, unpacks and dequantizes them into dense shared-memory tiles, and then runs a standard Tensor-Core matrix-vector product.</a:t>
            </a:r>
          </a:p>
          <a:p/>
          <a:p>
            <a:r>
              <a:t>So sparsity is handled entirely on the </a:t>
            </a:r>
            <a:r>
              <a:rPr lang="en-US"/>
              <a:t>loading </a:t>
            </a:r>
            <a:r>
              <a:t>path -- where the memory savings are -- while the compute stage stays dense and regular. That avoids the irregular memory access and control-flow </a:t>
            </a:r>
            <a:r>
              <a:rPr b="1">
                <a:highlight>
                  <a:srgbClr val="FFFF00"/>
                </a:highlight>
              </a:rPr>
              <a:t>divergence</a:t>
            </a:r>
            <a:r>
              <a:t> that usually kill sparse execution. This is exactly what a memory-bound decode stage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[6:50-7:30]  Now to the evaluation. Everything runs on a single A100 80GB, with custom CUDA and Triton kernels.</a:t>
            </a:r>
          </a:p>
          <a:p/>
          <a:p>
            <a:r>
              <a:t>For accuracy, we use the official LongBench pipeline on six representative tasks, with Llama-3-8B-Instruct as the main model, plus Llama-2, Mistral, and Qwen2.5. For efficiency, we measure end-to-end throughput and compression cost at batch sizes one through eight.</a:t>
            </a:r>
          </a:p>
          <a:p/>
          <a:p>
            <a:r>
              <a:t>Our baselines are dense decoding, a matched-budget uniform-sparsity baseline based on MUSTAFAR, and the sequential MUSTAFAR-plus-KIVI pipeline -- which I'll call M-plus-K. We test both sparse-only and joint sparse-quant settings at 50 and 70 percent.</a:t>
            </a:r>
          </a:p>
          <a:p/>
          <a:p>
            <a:r>
              <a:t>[PACING: if behind, trim this slide -- just name model, hardware, baselines.]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[7:30-8:15]  First, sparsity ALONE, to isolate the effect of budget allocation -- no quantization yet.</a:t>
            </a:r>
          </a:p>
          <a:p/>
          <a:p>
            <a:r>
              <a:t>The takeaway is on the right. Our differential policy is greater than or equal to uniform sparsity in EVERY setting -- it never hurts. And the gain is larger at the tighter 70 percent budget than at 50 percent.</a:t>
            </a:r>
          </a:p>
          <a:p/>
          <a:p>
            <a:r>
              <a:t>That confirms the intuition from the method: token-level budget allocation matters most exactly when the budget is scarce.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[8:15-9:15]  Now the main result -- the FULL joint sparse-quant pipeline against the sequential M-plus-K baseline, averaged over the six tasks.</a:t>
            </a:r>
          </a:p>
          <a:p/>
          <a:p>
            <a:r>
              <a:t>JSQKV wins in ALL FOUR settings, and -- this is the key pattern -- the gap </a:t>
            </a:r>
            <a:r>
              <a:rPr lang="en-US" b="1">
                <a:highlight>
                  <a:srgbClr val="FFFF00"/>
                </a:highlight>
              </a:rPr>
              <a:t>widens</a:t>
            </a:r>
            <a:r>
              <a:t> as compression gets more aggressive. At the most aggressive setting, 70/70 with 2-bit, the average score jumps from </a:t>
            </a:r>
            <a:r>
              <a:rPr b="1">
                <a:highlight>
                  <a:srgbClr val="FFFF00"/>
                </a:highlight>
              </a:rPr>
              <a:t>39.83 to 43.12</a:t>
            </a:r>
            <a:r>
              <a:t> -- a gain of over three points.</a:t>
            </a:r>
          </a:p>
          <a:p/>
          <a:p>
            <a:r>
              <a:t>Why does JSQKV win? Because jointly aligning sparsity, quantization, and execution beats stacking two methods that were never designed to work together. The cross-model results tell the same story -- favorable overall, and strongest under tight budgets.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[9:15-10:10]  And crucially, this quality holds up while delivering REAL speedup. On the left, end-to-end throughput versus batch size: the compressed paths pull ahead of dense decoding, with the clearest advantage in the small-to-medium batch regime. Overall, JSQKV improves end-to-end throughput by up to 44 percent over dense decoding.</a:t>
            </a:r>
          </a:p>
          <a:p/>
          <a:p>
            <a:r>
              <a:t>On the right, compression statistics. Compared to sparse-only MUSTAFAR-70, our sparse-quant path pushes the compression ratio from 2.09x up to 3.48x -- and, notably, it ALSO LOWERS the compression time, from about 5,400 down to 4,300 milliseconds. So the more compact representation even cuts the write-back cost. Better compression and faster -- not a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[10:10-11:00]  To conclude. Our central message is that KV-cache compression should be treated as a systems-and-algorithms co-design problem -- not a simple composition of independent post-processing steps.</a:t>
            </a:r>
          </a:p>
          <a:p/>
          <a:p>
            <a:r>
              <a:t>JSQKV brings together four pieces: differential sparsity, the dual-window online mechanism, Hadamard-stabilized Per-Token-Tile quantization, and the sparse-quant kernel that turns compression into speedup.</a:t>
            </a:r>
          </a:p>
          <a:p/>
          <a:p>
            <a:r>
              <a:t>And the headline numbers, on Llama-3-8B: the average score improves from 39.83 to 43.12, throughput improves by 44 percent, and the KV cache is compressed by 3.48 times -- all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[11:00-11:15]  That's JSQKV. Thank you very much for your attention -- I'd be happy to take your questions.</a:t>
            </a:r>
          </a:p>
          <a:p/>
          <a:p>
            <a:r>
              <a:t>[Total ~11:15, ~45s buffer before 12:00, then 3-min Q&amp;A.]</a:t>
            </a:r>
          </a:p>
          <a:p/>
          <a:p>
            <a:r>
              <a:t>Likely Q&amp;A: why differential beats uniform under tight budgets; overhead of the dual-window buffer; why gains shrink at large batch sizes (compute-bound -&gt; dequant overhead less amortized); cross-model variance (Qwen gains big, Llama-2 modest).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1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89320"/>
            <a:ext cx="2438704" cy="109728"/>
          </a:xfrm>
          <a:prstGeom prst="rect">
            <a:avLst/>
          </a:prstGeom>
          <a:solidFill>
            <a:srgbClr val="3D6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704" y="5989320"/>
            <a:ext cx="2438704" cy="109728"/>
          </a:xfrm>
          <a:prstGeom prst="rect">
            <a:avLst/>
          </a:prstGeom>
          <a:solidFill>
            <a:srgbClr val="C9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7408" y="5989320"/>
            <a:ext cx="2438704" cy="109728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6112" y="5989320"/>
            <a:ext cx="2438704" cy="109728"/>
          </a:xfrm>
          <a:prstGeom prst="rect">
            <a:avLst/>
          </a:prstGeom>
          <a:solidFill>
            <a:srgbClr val="746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4816" y="5989320"/>
            <a:ext cx="2438704" cy="109728"/>
          </a:xfrm>
          <a:prstGeom prst="rect">
            <a:avLst/>
          </a:prstGeom>
          <a:solidFill>
            <a:srgbClr val="B5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FB4D4"/>
                </a:solidFill>
                <a:latin typeface="Arial" panose="020B0604020202020204"/>
              </a:rPr>
              <a:t>KV-CACHE COMPRESSION  ·  LLM INFERENCE ACCELERATION</a:t>
            </a:r>
            <a:endParaRPr sz="1300" b="1" i="0">
              <a:solidFill>
                <a:srgbClr val="9FB4D4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10607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Arial" panose="020B0604020202020204"/>
              </a:rPr>
              <a:t>JSQKV</a:t>
            </a:r>
            <a:endParaRPr sz="6000" b="1" i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3EAF4"/>
                </a:solidFill>
                <a:latin typeface="Arial" panose="020B0604020202020204"/>
              </a:rPr>
              <a:t>Joint Sparsification and Quantization for</a:t>
            </a:r>
            <a:endParaRPr sz="3000" b="1" i="0">
              <a:solidFill>
                <a:srgbClr val="E3EAF4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3EAF4"/>
                </a:solidFill>
                <a:latin typeface="Arial" panose="020B0604020202020204"/>
              </a:rPr>
              <a:t>KV-Cache Compression and Decode Acceleration</a:t>
            </a:r>
            <a:endParaRPr sz="3000" b="1" i="0">
              <a:solidFill>
                <a:srgbClr val="E3EAF4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Arial" panose="020B0604020202020204"/>
              </a:rPr>
              <a:t>Hao Zhang¹   ·   Xiaoli Gong¹*   ·   Haoran Li¹   ·   Huayou Su²   ·   Qingxia Chen³   ·   Jin Zhang¹</a:t>
            </a:r>
            <a:endParaRPr sz="1600" b="1" i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B9C7DE"/>
                </a:solidFill>
                <a:latin typeface="Arial" panose="020B0604020202020204"/>
              </a:rPr>
              <a:t>¹ College of Computer Science, Nankai University, Tianjin, China</a:t>
            </a:r>
            <a:endParaRPr sz="1250" b="0" i="0">
              <a:solidFill>
                <a:srgbClr val="B9C7DE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B9C7DE"/>
                </a:solidFill>
                <a:latin typeface="Arial" panose="020B0604020202020204"/>
              </a:rPr>
              <a:t>² National University of Defense Technology, Changsha    ³ Qian Xuesen Laboratory of Space Technology, Beijing</a:t>
            </a:r>
            <a:endParaRPr sz="1250" b="0" i="0">
              <a:solidFill>
                <a:srgbClr val="B9C7DE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400"/>
              </a:spcBef>
              <a:spcAft>
                <a:spcPts val="600"/>
              </a:spcAft>
            </a:pPr>
            <a:r>
              <a:rPr sz="1150" b="0" i="1">
                <a:solidFill>
                  <a:srgbClr val="8DA3C6"/>
                </a:solidFill>
                <a:latin typeface="Arial" panose="020B0604020202020204"/>
              </a:rPr>
              <a:t>* Corresponding author   ·   Code: github.com/Haozon/JSQKV</a:t>
            </a:r>
            <a:endParaRPr sz="1150" b="0" i="1">
              <a:solidFill>
                <a:srgbClr val="8DA3C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D6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566928" cy="82296"/>
          </a:xfrm>
          <a:prstGeom prst="rect">
            <a:avLst/>
          </a:prstGeom>
          <a:solidFill>
            <a:srgbClr val="3D6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D6399"/>
                </a:solidFill>
                <a:latin typeface="Arial" panose="020B0604020202020204"/>
              </a:rPr>
              <a:t>MOTIVATION</a:t>
            </a:r>
            <a:endParaRPr sz="1250" b="1" i="0">
              <a:solidFill>
                <a:srgbClr val="3D6399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D3D"/>
                </a:solidFill>
                <a:latin typeface="Arial" panose="020B0604020202020204"/>
              </a:rPr>
              <a:t>The KV-Cache Is the Bottleneck of Long-Context Decoding</a:t>
            </a:r>
            <a:endParaRPr sz="2700" b="1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3642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Arial" panose="020B0604020202020204"/>
              </a:rPr>
              <a:t>2</a:t>
            </a:r>
            <a:endParaRPr sz="1100" b="0" i="0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9893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3D6399"/>
                </a:solidFill>
                <a:latin typeface="Arial" panose="020B0604020202020204"/>
              </a:rPr>
              <a:t>Autoregressive decoding is increasingly memory-bound</a:t>
            </a:r>
            <a:endParaRPr sz="1700" b="1" i="0">
              <a:solidFill>
                <a:srgbClr val="3D6399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3D6399"/>
                </a:solidFill>
                <a:latin typeface="Arial" panose="020B0604020202020204"/>
              </a:rPr>
              <a:t>▸  </a:t>
            </a:r>
            <a:r>
              <a:rPr sz="1450" b="0" i="0">
                <a:solidFill>
                  <a:srgbClr val="1F2D3D"/>
                </a:solidFill>
                <a:latin typeface="Arial" panose="020B0604020202020204"/>
              </a:rPr>
              <a:t>The KV cache grows linearly with context length and is re-read at every decode step.</a:t>
            </a:r>
            <a:endParaRPr sz="145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3D6399"/>
                </a:solidFill>
                <a:latin typeface="Arial" panose="020B0604020202020204"/>
              </a:rPr>
              <a:t>▸  </a:t>
            </a:r>
            <a:r>
              <a:rPr sz="1450" b="0" i="0">
                <a:solidFill>
                  <a:srgbClr val="1F2D3D"/>
                </a:solidFill>
                <a:latin typeface="Arial" panose="020B0604020202020204"/>
              </a:rPr>
              <a:t>In long-context serving it dominates memory footprint and bandwidth, capping throughput, batch size, and deployment efficiency.</a:t>
            </a:r>
            <a:endParaRPr sz="145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3D6399"/>
                </a:solidFill>
                <a:latin typeface="Arial" panose="020B0604020202020204"/>
              </a:rPr>
              <a:t>▸  </a:t>
            </a:r>
            <a:r>
              <a:rPr sz="1450" b="0" i="0">
                <a:solidFill>
                  <a:srgbClr val="1F2D3D"/>
                </a:solidFill>
                <a:latin typeface="Arial" panose="020B0604020202020204"/>
              </a:rPr>
              <a:t>Decoding is far more memory-bound than prefill — bandwidth, not compute, is the limiter.</a:t>
            </a:r>
            <a:endParaRPr sz="145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800"/>
              </a:spcBef>
              <a:spcAft>
                <a:spcPts val="800"/>
              </a:spcAft>
            </a:pPr>
            <a:r>
              <a:rPr sz="1700" b="1" i="0">
                <a:solidFill>
                  <a:srgbClr val="3D6399"/>
                </a:solidFill>
                <a:latin typeface="Arial" panose="020B0604020202020204"/>
              </a:rPr>
              <a:t>Two mainstream compression directions</a:t>
            </a:r>
            <a:endParaRPr sz="1700" b="1" i="0">
              <a:solidFill>
                <a:srgbClr val="3D6399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C9862E"/>
                </a:solidFill>
                <a:latin typeface="Arial" panose="020B0604020202020204"/>
              </a:rPr>
              <a:t>•  </a:t>
            </a:r>
            <a:r>
              <a:rPr sz="1400" b="0" i="0">
                <a:solidFill>
                  <a:srgbClr val="1F2D3D"/>
                </a:solidFill>
                <a:latin typeface="Arial" panose="020B0604020202020204"/>
              </a:rPr>
              <a:t>Sparsification — evict/prune less useful KV states (StreamingLLM, H₂O, SnapKV, MUSTAFAR).</a:t>
            </a:r>
            <a:endParaRPr sz="140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4F8A63"/>
                </a:solidFill>
                <a:latin typeface="Arial" panose="020B0604020202020204"/>
              </a:rPr>
              <a:t>•  </a:t>
            </a:r>
            <a:r>
              <a:rPr sz="1400" b="0" i="0">
                <a:solidFill>
                  <a:srgbClr val="1F2D3D"/>
                </a:solidFill>
                <a:latin typeface="Arial" panose="020B0604020202020204"/>
              </a:rPr>
              <a:t>Low-bit quantization — reduce numerical precision of retained states (KIVI, KVQuant, QuaRot).</a:t>
            </a:r>
            <a:endParaRPr sz="140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0" y="1874519"/>
            <a:ext cx="48463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148839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2D3D"/>
                </a:solidFill>
                <a:latin typeface="Arial" panose="020B0604020202020204"/>
              </a:rPr>
              <a:t>Why it matters at decode time</a:t>
            </a:r>
            <a:endParaRPr sz="1450" b="1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78040" y="2834639"/>
            <a:ext cx="100584" cy="822960"/>
          </a:xfrm>
          <a:prstGeom prst="rect">
            <a:avLst/>
          </a:prstGeom>
          <a:solidFill>
            <a:srgbClr val="3D6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816351"/>
            <a:ext cx="39319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3D6399"/>
                </a:solidFill>
                <a:latin typeface="Arial" panose="020B0604020202020204"/>
              </a:rPr>
              <a:t>Linear</a:t>
            </a:r>
            <a:endParaRPr sz="2100" b="1" i="0">
              <a:solidFill>
                <a:srgbClr val="3D6399"/>
              </a:solidFill>
              <a:latin typeface="Arial" panose="020B060402020202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Arial" panose="020B0604020202020204"/>
              </a:rPr>
              <a:t>KV memory grows with sequence length</a:t>
            </a:r>
            <a:endParaRPr sz="1200" b="0" i="0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78040" y="3858767"/>
            <a:ext cx="100584" cy="822960"/>
          </a:xfrm>
          <a:prstGeom prst="rect">
            <a:avLst/>
          </a:prstGeom>
          <a:solidFill>
            <a:srgbClr val="746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840479"/>
            <a:ext cx="39319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74639E"/>
                </a:solidFill>
                <a:latin typeface="Arial" panose="020B0604020202020204"/>
              </a:rPr>
              <a:t>Every step</a:t>
            </a:r>
            <a:endParaRPr sz="2100" b="1" i="0">
              <a:solidFill>
                <a:srgbClr val="74639E"/>
              </a:solidFill>
              <a:latin typeface="Arial" panose="020B060402020202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Arial" panose="020B0604020202020204"/>
              </a:rPr>
              <a:t>entire cache re-read during decoding</a:t>
            </a:r>
            <a:endParaRPr sz="1200" b="0" i="0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78040" y="4882895"/>
            <a:ext cx="100584" cy="822960"/>
          </a:xfrm>
          <a:prstGeom prst="rect">
            <a:avLst/>
          </a:prstGeom>
          <a:solidFill>
            <a:srgbClr val="B5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4864607"/>
            <a:ext cx="39319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B55050"/>
                </a:solidFill>
                <a:latin typeface="Arial" panose="020B0604020202020204"/>
              </a:rPr>
              <a:t>Memory-bound</a:t>
            </a:r>
            <a:endParaRPr sz="2100" b="1" i="0">
              <a:solidFill>
                <a:srgbClr val="B55050"/>
              </a:solidFill>
              <a:latin typeface="Arial" panose="020B060402020202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Arial" panose="020B0604020202020204"/>
              </a:rPr>
              <a:t>bandwidth is the true limiter, not FLOPs</a:t>
            </a:r>
            <a:endParaRPr sz="1200" b="0" i="0">
              <a:solidFill>
                <a:srgbClr val="5B6B7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5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566928" cy="82296"/>
          </a:xfrm>
          <a:prstGeom prst="rect">
            <a:avLst/>
          </a:prstGeom>
          <a:solidFill>
            <a:srgbClr val="B5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B55050"/>
                </a:solidFill>
                <a:latin typeface="Arial" panose="020B0604020202020204"/>
              </a:rPr>
              <a:t>PROBLEM &amp; CHALLENGE</a:t>
            </a:r>
            <a:endParaRPr sz="1250" b="1" i="0">
              <a:solidFill>
                <a:srgbClr val="B55050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D3D"/>
                </a:solidFill>
                <a:latin typeface="Arial" panose="020B0604020202020204"/>
              </a:rPr>
              <a:t>Naïve “Sparsify-then-Quantize” Does Not Work</a:t>
            </a:r>
            <a:endParaRPr sz="2700" b="1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3642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Arial" panose="020B0604020202020204"/>
              </a:rPr>
              <a:t>3</a:t>
            </a:r>
            <a:endParaRPr sz="1100" b="0" i="0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F2D3D"/>
                </a:solidFill>
                <a:latin typeface="Arial" panose="020B0604020202020204"/>
              </a:rPr>
              <a:t>Both directions are effective, but they are still studied in isolation. Simply chaining them fails to jointly preserve quality and deliver real end-to-end speedup.</a:t>
            </a:r>
            <a:endParaRPr sz="145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274320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6E7E7"/>
          </a:solidFill>
          <a:ln w="15875">
            <a:solidFill>
              <a:srgbClr val="B5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99232"/>
            <a:ext cx="489204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 i="0">
                <a:solidFill>
                  <a:srgbClr val="B55050"/>
                </a:solidFill>
                <a:latin typeface="Arial" panose="020B0604020202020204"/>
              </a:rPr>
              <a:t>①  Representation &amp; execution gap</a:t>
            </a:r>
            <a:endParaRPr sz="1650" b="1" i="0">
              <a:solidFill>
                <a:srgbClr val="B55050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D3D"/>
                </a:solidFill>
                <a:latin typeface="Arial" panose="020B0604020202020204"/>
              </a:rPr>
              <a:t>Sparsification changes not just how much KV is kept, but the retained token/feature layout.</a:t>
            </a:r>
            <a:endParaRPr sz="135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D3D"/>
                </a:solidFill>
                <a:latin typeface="Arial" panose="020B0604020202020204"/>
              </a:rPr>
              <a:t>This shifts quantization granularity, compressed layout, and the decode kernel — so algorithmic compression gains do not automatically become lower memory traffic.</a:t>
            </a:r>
            <a:endParaRPr sz="135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274320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ECE8F3"/>
          </a:solidFill>
          <a:ln w="15875">
            <a:solidFill>
              <a:srgbClr val="74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999232"/>
            <a:ext cx="489204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 i="0">
                <a:solidFill>
                  <a:srgbClr val="74639E"/>
                </a:solidFill>
                <a:latin typeface="Arial" panose="020B0604020202020204"/>
              </a:rPr>
              <a:t>②  Online decision gap</a:t>
            </a:r>
            <a:endParaRPr sz="1650" b="1" i="0">
              <a:solidFill>
                <a:srgbClr val="74639E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D3D"/>
                </a:solidFill>
                <a:latin typeface="Arial" panose="020B0604020202020204"/>
              </a:rPr>
              <a:t>Token-differential compression is easy to estimate in prefill, where future attention is observable.</a:t>
            </a:r>
            <a:endParaRPr sz="135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D3D"/>
                </a:solidFill>
                <a:latin typeface="Arial" panose="020B0604020202020204"/>
              </a:rPr>
              <a:t>But at decode time a token must be cached before its future importance can be known — the policy is not directly applicable online.</a:t>
            </a:r>
            <a:endParaRPr sz="135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5349240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16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Arial" panose="020B0604020202020204"/>
              </a:rPr>
              <a:t>Key challenge: preserve model quality under aggressive compression  AND  keep the compressed representation directly executable for real decode-time acceleration.</a:t>
            </a:r>
            <a:endParaRPr sz="145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D6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566928" cy="82296"/>
          </a:xfrm>
          <a:prstGeom prst="rect">
            <a:avLst/>
          </a:prstGeom>
          <a:solidFill>
            <a:srgbClr val="3D6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D6399"/>
                </a:solidFill>
                <a:latin typeface="Arial" panose="020B0604020202020204"/>
              </a:rPr>
              <a:t>OUR APPROACH</a:t>
            </a:r>
            <a:endParaRPr sz="1250" b="1" i="0">
              <a:solidFill>
                <a:srgbClr val="3D6399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D3D"/>
                </a:solidFill>
                <a:latin typeface="Arial" panose="020B0604020202020204"/>
              </a:rPr>
              <a:t>JSQKV: A Unified Sparse-Quant Decode Pipeline</a:t>
            </a:r>
            <a:endParaRPr sz="2700" b="1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3642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Arial" panose="020B0604020202020204"/>
              </a:rPr>
              <a:t>4</a:t>
            </a:r>
            <a:endParaRPr sz="1100" b="0" i="0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B6B7B"/>
                </a:solidFill>
                <a:latin typeface="Arial" panose="020B0604020202020204"/>
              </a:rPr>
              <a:t>Co-design compression policy → compressed format → execution path in one decode-stage pipeline.</a:t>
            </a:r>
            <a:endParaRPr sz="1400" b="0" i="1">
              <a:solidFill>
                <a:srgbClr val="5B6B7B"/>
              </a:solidFill>
              <a:latin typeface="Arial" panose="020B0604020202020204"/>
            </a:endParaRPr>
          </a:p>
        </p:txBody>
      </p:sp>
      <p:pic>
        <p:nvPicPr>
          <p:cNvPr id="8" name="Picture 7" descr="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2859" y="2148840"/>
            <a:ext cx="6581522" cy="2788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212080"/>
            <a:ext cx="2706624" cy="1051560"/>
          </a:xfrm>
          <a:prstGeom prst="roundRect">
            <a:avLst>
              <a:gd name="adj" fmla="val 6000"/>
            </a:avLst>
          </a:prstGeom>
          <a:solidFill>
            <a:srgbClr val="F7EEDC"/>
          </a:solidFill>
          <a:ln w="15875">
            <a:solidFill>
              <a:srgbClr val="C9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706624" cy="91440"/>
          </a:xfrm>
          <a:prstGeom prst="rect">
            <a:avLst/>
          </a:prstGeom>
          <a:solidFill>
            <a:srgbClr val="C9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539496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C9862E"/>
                </a:solidFill>
                <a:latin typeface="Arial" panose="020B0604020202020204"/>
              </a:rPr>
              <a:t>① Differential Sparsity</a:t>
            </a:r>
            <a:endParaRPr sz="1350" b="1" i="0">
              <a:solidFill>
                <a:srgbClr val="C9862E"/>
              </a:solidFill>
              <a:latin typeface="Arial" panose="020B060402020202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F2D3D"/>
                </a:solidFill>
                <a:latin typeface="Arial" panose="020B0604020202020204"/>
              </a:rPr>
              <a:t>budgeted 3-level token policy</a:t>
            </a:r>
            <a:endParaRPr sz="115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332988" y="5212080"/>
            <a:ext cx="2706624" cy="1051560"/>
          </a:xfrm>
          <a:prstGeom prst="roundRect">
            <a:avLst>
              <a:gd name="adj" fmla="val 6000"/>
            </a:avLst>
          </a:prstGeom>
          <a:solidFill>
            <a:srgbClr val="ECE8F3"/>
          </a:solidFill>
          <a:ln w="15875">
            <a:solidFill>
              <a:srgbClr val="74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2988" y="5212080"/>
            <a:ext cx="2706624" cy="91440"/>
          </a:xfrm>
          <a:prstGeom prst="rect">
            <a:avLst/>
          </a:prstGeom>
          <a:solidFill>
            <a:srgbClr val="746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7580" y="539496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74639E"/>
                </a:solidFill>
                <a:latin typeface="Arial" panose="020B0604020202020204"/>
              </a:rPr>
              <a:t>② Dual-Window Online</a:t>
            </a:r>
            <a:endParaRPr sz="1350" b="1" i="0">
              <a:solidFill>
                <a:srgbClr val="74639E"/>
              </a:solidFill>
              <a:latin typeface="Arial" panose="020B060402020202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F2D3D"/>
                </a:solidFill>
                <a:latin typeface="Arial" panose="020B0604020202020204"/>
              </a:rPr>
              <a:t>apply policy during decoding</a:t>
            </a:r>
            <a:endParaRPr sz="115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63056" y="5212080"/>
            <a:ext cx="2706624" cy="1051560"/>
          </a:xfrm>
          <a:prstGeom prst="roundRect">
            <a:avLst>
              <a:gd name="adj" fmla="val 6000"/>
            </a:avLst>
          </a:prstGeom>
          <a:solidFill>
            <a:srgbClr val="E6F0E9"/>
          </a:solidFill>
          <a:ln w="15875">
            <a:solidFill>
              <a:srgbClr val="4F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5212080"/>
            <a:ext cx="2706624" cy="9144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539496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4F8A63"/>
                </a:solidFill>
                <a:latin typeface="Arial" panose="020B0604020202020204"/>
              </a:rPr>
              <a:t>③ Per-Token-Tile Quant</a:t>
            </a:r>
            <a:endParaRPr sz="1350" b="1" i="0">
              <a:solidFill>
                <a:srgbClr val="4F8A63"/>
              </a:solidFill>
              <a:latin typeface="Arial" panose="020B060402020202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F2D3D"/>
                </a:solidFill>
                <a:latin typeface="Arial" panose="020B0604020202020204"/>
              </a:rPr>
              <a:t>Hadamard-stabilized low-bit</a:t>
            </a:r>
            <a:endParaRPr sz="115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93124" y="5212080"/>
            <a:ext cx="2706624" cy="1051560"/>
          </a:xfrm>
          <a:prstGeom prst="roundRect">
            <a:avLst>
              <a:gd name="adj" fmla="val 6000"/>
            </a:avLst>
          </a:prstGeom>
          <a:solidFill>
            <a:srgbClr val="F6E7E7"/>
          </a:solidFill>
          <a:ln w="15875">
            <a:solidFill>
              <a:srgbClr val="B5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93124" y="5212080"/>
            <a:ext cx="2706624" cy="91440"/>
          </a:xfrm>
          <a:prstGeom prst="rect">
            <a:avLst/>
          </a:prstGeom>
          <a:solidFill>
            <a:srgbClr val="B5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7716" y="539496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B55050"/>
                </a:solidFill>
                <a:latin typeface="Arial" panose="020B0604020202020204"/>
              </a:rPr>
              <a:t>④ Sparse-Quant Kernel</a:t>
            </a:r>
            <a:endParaRPr sz="1350" b="1" i="0">
              <a:solidFill>
                <a:srgbClr val="B55050"/>
              </a:solidFill>
              <a:latin typeface="Arial" panose="020B060402020202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F2D3D"/>
                </a:solidFill>
                <a:latin typeface="Arial" panose="020B0604020202020204"/>
              </a:rPr>
              <a:t>load-compressed, compute-dense</a:t>
            </a:r>
            <a:endParaRPr sz="1150" b="0" i="0">
              <a:solidFill>
                <a:srgbClr val="1F2D3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566928" cy="82296"/>
          </a:xfrm>
          <a:prstGeom prst="rect">
            <a:avLst/>
          </a:prstGeom>
          <a:solidFill>
            <a:srgbClr val="C9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C9862E"/>
                </a:solidFill>
                <a:latin typeface="Arial" panose="020B0604020202020204"/>
              </a:rPr>
              <a:t>METHOD · MODULE 1</a:t>
            </a:r>
            <a:endParaRPr sz="1250" b="1" i="0">
              <a:solidFill>
                <a:srgbClr val="C9862E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D3D"/>
                </a:solidFill>
                <a:latin typeface="Arial" panose="020B0604020202020204"/>
              </a:rPr>
              <a:t>Budgeted Differential Sparsity Policy</a:t>
            </a:r>
            <a:endParaRPr sz="2700" b="1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3642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Arial" panose="020B0604020202020204"/>
              </a:rPr>
              <a:t>5</a:t>
            </a:r>
            <a:endParaRPr sz="1100" b="0" i="0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8521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9862E"/>
                </a:solidFill>
                <a:latin typeface="Arial" panose="020B0604020202020204"/>
              </a:rPr>
              <a:t>Idea: not all tokens deserve the same compression.</a:t>
            </a:r>
            <a:endParaRPr sz="1600" b="1" i="0">
              <a:solidFill>
                <a:srgbClr val="C9862E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1F2D3D"/>
                </a:solidFill>
                <a:latin typeface="Arial" panose="020B0604020202020204"/>
              </a:rPr>
              <a:t>A fixed sparsity ratio wastes budget on unimportant tokens and over-compresses important ones.</a:t>
            </a:r>
            <a:endParaRPr sz="135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F2D3D"/>
                </a:solidFill>
                <a:latin typeface="Arial" panose="020B0604020202020204"/>
              </a:rPr>
              <a:t>Estimate importance from prefill attention</a:t>
            </a:r>
            <a:endParaRPr sz="1450" b="1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C9862E"/>
                </a:solidFill>
                <a:latin typeface="Arial" panose="020B0604020202020204"/>
              </a:rPr>
              <a:t>▸  </a:t>
            </a:r>
            <a:r>
              <a:rPr sz="1300" b="0" i="0">
                <a:solidFill>
                  <a:srgbClr val="1F2D3D"/>
                </a:solidFill>
                <a:latin typeface="Arial" panose="020B0604020202020204"/>
              </a:rPr>
              <a:t>Score = mean attention a token receives from the last L_obs observation-window queries (SnapKV-style), length-normalized.</a:t>
            </a:r>
            <a:endParaRPr sz="130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2D3D"/>
                </a:solidFill>
                <a:latin typeface="Arial" panose="020B0604020202020204"/>
              </a:rPr>
              <a:t>Assign each token to one of three levels</a:t>
            </a:r>
            <a:endParaRPr sz="1450" b="1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9862E"/>
                </a:solidFill>
                <a:latin typeface="Arial" panose="020B0604020202020204"/>
              </a:rPr>
              <a:t>▸  </a:t>
            </a:r>
            <a:r>
              <a:rPr sz="1300" b="0" i="0">
                <a:solidFill>
                  <a:srgbClr val="1F2D3D"/>
                </a:solidFill>
                <a:latin typeface="Arial" panose="020B0604020202020204"/>
              </a:rPr>
              <a:t>Two percentile thresholds (τ_high, τ_low) split tokens under the target average budget B = p₁ρ₁ + p₂.</a:t>
            </a:r>
            <a:endParaRPr sz="130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9862E"/>
                </a:solidFill>
                <a:latin typeface="Arial" panose="020B0604020202020204"/>
              </a:rPr>
              <a:t>▸  </a:t>
            </a:r>
            <a:r>
              <a:rPr sz="1300" b="0" i="0">
                <a:solidFill>
                  <a:srgbClr val="1F2D3D"/>
                </a:solidFill>
                <a:latin typeface="Arial" panose="020B0604020202020204"/>
              </a:rPr>
              <a:t>A small calibration search picks the (p₀, ρ₁) allocation at fixed B.</a:t>
            </a:r>
            <a:endParaRPr sz="130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20840" y="1828800"/>
            <a:ext cx="4983480" cy="1170432"/>
          </a:xfrm>
          <a:prstGeom prst="roundRect">
            <a:avLst>
              <a:gd name="adj" fmla="val 6000"/>
            </a:avLst>
          </a:prstGeom>
          <a:solidFill>
            <a:srgbClr val="E6F0E9"/>
          </a:solidFill>
          <a:ln w="15875">
            <a:solidFill>
              <a:srgbClr val="4F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828800"/>
            <a:ext cx="109728" cy="1170432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993392"/>
            <a:ext cx="443484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4F8A63"/>
                </a:solidFill>
                <a:latin typeface="Arial" panose="020B0604020202020204"/>
              </a:rPr>
              <a:t>Level 0 — Dense</a:t>
            </a:r>
            <a:endParaRPr sz="1550" b="1" i="0">
              <a:solidFill>
                <a:srgbClr val="4F8A63"/>
              </a:solidFill>
              <a:latin typeface="Arial" panose="020B0604020202020204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D3D"/>
                </a:solidFill>
                <a:latin typeface="Arial" panose="020B0604020202020204"/>
              </a:rPr>
              <a:t>Most important tokens kept fully (ρ₀ = 0).</a:t>
            </a:r>
            <a:endParaRPr sz="125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20840" y="3145536"/>
            <a:ext cx="4983480" cy="1170432"/>
          </a:xfrm>
          <a:prstGeom prst="roundRect">
            <a:avLst>
              <a:gd name="adj" fmla="val 6000"/>
            </a:avLst>
          </a:prstGeom>
          <a:solidFill>
            <a:srgbClr val="F7EEDC"/>
          </a:solidFill>
          <a:ln w="15875">
            <a:solidFill>
              <a:srgbClr val="C9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3145536"/>
            <a:ext cx="109728" cy="1170432"/>
          </a:xfrm>
          <a:prstGeom prst="rect">
            <a:avLst/>
          </a:prstGeom>
          <a:solidFill>
            <a:srgbClr val="C9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3310128"/>
            <a:ext cx="443484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C9862E"/>
                </a:solidFill>
                <a:latin typeface="Arial" panose="020B0604020202020204"/>
              </a:rPr>
              <a:t>Level 1 — Partial Sparse</a:t>
            </a:r>
            <a:endParaRPr sz="1550" b="1" i="0">
              <a:solidFill>
                <a:srgbClr val="C9862E"/>
              </a:solidFill>
              <a:latin typeface="Arial" panose="020B0604020202020204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D3D"/>
                </a:solidFill>
                <a:latin typeface="Arial" panose="020B0604020202020204"/>
              </a:rPr>
              <a:t>Keep only top-magnitude features per key/value vector (ratio ρ₁).</a:t>
            </a:r>
            <a:endParaRPr sz="125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720840" y="4462272"/>
            <a:ext cx="4983480" cy="1170432"/>
          </a:xfrm>
          <a:prstGeom prst="roundRect">
            <a:avLst>
              <a:gd name="adj" fmla="val 6000"/>
            </a:avLst>
          </a:prstGeom>
          <a:solidFill>
            <a:srgbClr val="F6E7E7"/>
          </a:solidFill>
          <a:ln w="15875">
            <a:solidFill>
              <a:srgbClr val="B5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4462272"/>
            <a:ext cx="109728" cy="1170432"/>
          </a:xfrm>
          <a:prstGeom prst="rect">
            <a:avLst/>
          </a:prstGeom>
          <a:solidFill>
            <a:srgbClr val="B5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4626864"/>
            <a:ext cx="443484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B55050"/>
                </a:solidFill>
                <a:latin typeface="Arial" panose="020B0604020202020204"/>
              </a:rPr>
              <a:t>Level 2 — Evict</a:t>
            </a:r>
            <a:endParaRPr sz="1550" b="1" i="0">
              <a:solidFill>
                <a:srgbClr val="B55050"/>
              </a:solidFill>
              <a:latin typeface="Arial" panose="020B0604020202020204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D3D"/>
                </a:solidFill>
                <a:latin typeface="Arial" panose="020B0604020202020204"/>
              </a:rPr>
              <a:t>Least important tokens removed from cache (ρ₂ = 1).</a:t>
            </a:r>
            <a:endParaRPr sz="125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20840" y="5779008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B7B"/>
                </a:solidFill>
                <a:latin typeface="Arial" panose="020B0604020202020204"/>
              </a:rPr>
              <a:t>Result: larger gains at tighter (70%) budgets — token-level allocation matters most when budget is scarce.</a:t>
            </a:r>
            <a:endParaRPr sz="1200" b="0" i="1">
              <a:solidFill>
                <a:srgbClr val="5B6B7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46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566928" cy="82296"/>
          </a:xfrm>
          <a:prstGeom prst="rect">
            <a:avLst/>
          </a:prstGeom>
          <a:solidFill>
            <a:srgbClr val="746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74639E"/>
                </a:solidFill>
                <a:latin typeface="Arial" panose="020B0604020202020204"/>
              </a:rPr>
              <a:t>METHOD · MODULE 2</a:t>
            </a:r>
            <a:endParaRPr sz="1250" b="1" i="0">
              <a:solidFill>
                <a:srgbClr val="74639E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D3D"/>
                </a:solidFill>
                <a:latin typeface="Arial" panose="020B0604020202020204"/>
              </a:rPr>
              <a:t>Dual-Window Online Execution Mechanism</a:t>
            </a:r>
            <a:endParaRPr sz="2700" b="1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3642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Arial" panose="020B0604020202020204"/>
              </a:rPr>
              <a:t>6</a:t>
            </a:r>
            <a:endParaRPr sz="1100" b="0" i="0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247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F2D3D"/>
                </a:solidFill>
                <a:latin typeface="Arial" panose="020B0604020202020204"/>
              </a:rPr>
              <a:t>Challenge: the differential policy needs future attention, which is unavailable when a token is first generated. Solution: delay compression until enough future evidence is accumulated.</a:t>
            </a:r>
            <a:endParaRPr sz="145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26974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E4E8EE"/>
          </a:solidFill>
          <a:ln w="19050">
            <a:solidFill>
              <a:srgbClr val="5B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898648"/>
            <a:ext cx="2743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5B6B7B"/>
                </a:solidFill>
                <a:latin typeface="Arial" panose="020B0604020202020204"/>
              </a:rPr>
              <a:t>Compressed History</a:t>
            </a:r>
            <a:endParaRPr sz="1500" b="1" i="0">
              <a:solidFill>
                <a:srgbClr val="5B6B7B"/>
              </a:solidFill>
              <a:latin typeface="Arial" panose="020B0604020202020204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D3D"/>
                </a:solidFill>
                <a:latin typeface="Arial" panose="020B0604020202020204"/>
              </a:rPr>
              <a:t>already fixed</a:t>
            </a:r>
            <a:endParaRPr sz="120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29000" y="2697480"/>
            <a:ext cx="3840480" cy="1234440"/>
          </a:xfrm>
          <a:prstGeom prst="roundRect">
            <a:avLst>
              <a:gd name="adj" fmla="val 6000"/>
            </a:avLst>
          </a:prstGeom>
          <a:solidFill>
            <a:srgbClr val="F3DFDF"/>
          </a:solidFill>
          <a:ln w="19050">
            <a:solidFill>
              <a:srgbClr val="B5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898648"/>
            <a:ext cx="38404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B55050"/>
                </a:solidFill>
                <a:latin typeface="Arial" panose="020B0604020202020204"/>
              </a:rPr>
              <a:t>Window A  (to compress)</a:t>
            </a:r>
            <a:endParaRPr sz="1500" b="1" i="0">
              <a:solidFill>
                <a:srgbClr val="B55050"/>
              </a:solidFill>
              <a:latin typeface="Arial" panose="020B0604020202020204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D3D"/>
                </a:solidFill>
                <a:latin typeface="Arial" panose="020B0604020202020204"/>
              </a:rPr>
              <a:t>accumulates future attention</a:t>
            </a:r>
            <a:endParaRPr sz="120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52360" y="2697480"/>
            <a:ext cx="4251960" cy="1234440"/>
          </a:xfrm>
          <a:prstGeom prst="roundRect">
            <a:avLst>
              <a:gd name="adj" fmla="val 6000"/>
            </a:avLst>
          </a:prstGeom>
          <a:solidFill>
            <a:srgbClr val="DDE6F4"/>
          </a:solidFill>
          <a:ln w="19050">
            <a:solidFill>
              <a:srgbClr val="3D6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898648"/>
            <a:ext cx="42519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D6399"/>
                </a:solidFill>
                <a:latin typeface="Arial" panose="020B0604020202020204"/>
              </a:rPr>
              <a:t>Window B  (observation)</a:t>
            </a:r>
            <a:endParaRPr sz="1500" b="1" i="0">
              <a:solidFill>
                <a:srgbClr val="3D6399"/>
              </a:solidFill>
              <a:latin typeface="Arial" panose="020B0604020202020204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D3D"/>
                </a:solidFill>
                <a:latin typeface="Arial" panose="020B0604020202020204"/>
              </a:rPr>
              <a:t>newly generated tokens supply evidence</a:t>
            </a:r>
            <a:endParaRPr sz="120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5532120" y="4160520"/>
            <a:ext cx="2194560" cy="128016"/>
          </a:xfrm>
          <a:prstGeom prst="rightArrow">
            <a:avLst/>
          </a:prstGeom>
          <a:solidFill>
            <a:srgbClr val="746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43434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74639E"/>
                </a:solidFill>
                <a:latin typeface="Arial" panose="020B0604020202020204"/>
              </a:rPr>
              <a:t>queries in B observe A</a:t>
            </a:r>
            <a:endParaRPr sz="1150" b="0" i="1">
              <a:solidFill>
                <a:srgbClr val="74639E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4800600"/>
            <a:ext cx="3648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800600"/>
            <a:ext cx="3648456" cy="73152"/>
          </a:xfrm>
          <a:prstGeom prst="rect">
            <a:avLst/>
          </a:prstGeom>
          <a:solidFill>
            <a:srgbClr val="746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983480"/>
            <a:ext cx="3246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74639E"/>
                </a:solidFill>
                <a:latin typeface="Arial" panose="020B0604020202020204"/>
              </a:rPr>
              <a:t>1 · Accumulate</a:t>
            </a:r>
            <a:endParaRPr sz="1450" b="1" i="0">
              <a:solidFill>
                <a:srgbClr val="74639E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D3D"/>
                </a:solidFill>
                <a:latin typeface="Arial" panose="020B0604020202020204"/>
              </a:rPr>
              <a:t>Each new query's attention to Window A is summed in a buffer while B fills.</a:t>
            </a:r>
            <a:endParaRPr sz="120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279392" y="4800600"/>
            <a:ext cx="3648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4800600"/>
            <a:ext cx="3648456" cy="73152"/>
          </a:xfrm>
          <a:prstGeom prst="rect">
            <a:avLst/>
          </a:prstGeom>
          <a:solidFill>
            <a:srgbClr val="746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4983480"/>
            <a:ext cx="3246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74639E"/>
                </a:solidFill>
                <a:latin typeface="Arial" panose="020B0604020202020204"/>
              </a:rPr>
              <a:t>2 · Normalize</a:t>
            </a:r>
            <a:endParaRPr sz="1450" b="1" i="0">
              <a:solidFill>
                <a:srgbClr val="74639E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D3D"/>
                </a:solidFill>
                <a:latin typeface="Arial" panose="020B0604020202020204"/>
              </a:rPr>
              <a:t>Divide by #observations N⁽ⁱ⁾ = 2W−1−i, since earlier tokens are seen by more queries.</a:t>
            </a:r>
            <a:endParaRPr sz="120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055864" y="4800600"/>
            <a:ext cx="3648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55864" y="4800600"/>
            <a:ext cx="3648456" cy="73152"/>
          </a:xfrm>
          <a:prstGeom prst="rect">
            <a:avLst/>
          </a:prstGeom>
          <a:solidFill>
            <a:srgbClr val="746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2" y="4983480"/>
            <a:ext cx="3246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74639E"/>
                </a:solidFill>
                <a:latin typeface="Arial" panose="020B0604020202020204"/>
              </a:rPr>
              <a:t>3 · Classify &amp; slide</a:t>
            </a:r>
            <a:endParaRPr sz="1450" b="1" i="0">
              <a:solidFill>
                <a:srgbClr val="74639E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D3D"/>
                </a:solidFill>
                <a:latin typeface="Arial" panose="020B0604020202020204"/>
              </a:rPr>
              <a:t>Compare to reused (τ_high, τ_low) → merge compressed A; B becomes new A.</a:t>
            </a:r>
            <a:endParaRPr sz="120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19963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5B6B7B"/>
                </a:solidFill>
                <a:latin typeface="Arial" panose="020B0604020202020204"/>
              </a:rPr>
              <a:t>Each token is observed before compression, while uncompressed tokens stay bounded by O(W). Prefill-estimated thresholds are shown to be stable enough to reuse (Appendix).</a:t>
            </a:r>
            <a:endParaRPr sz="1150" b="0" i="1">
              <a:solidFill>
                <a:srgbClr val="5B6B7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566928" cy="82296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4F8A63"/>
                </a:solidFill>
                <a:latin typeface="Arial" panose="020B0604020202020204"/>
              </a:rPr>
              <a:t>METHOD · MODULE 3</a:t>
            </a:r>
            <a:endParaRPr sz="1250" b="1" i="0">
              <a:solidFill>
                <a:srgbClr val="4F8A63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D3D"/>
                </a:solidFill>
                <a:latin typeface="Arial" panose="020B0604020202020204"/>
              </a:rPr>
              <a:t>Per-Token-Tile Quantization with Hadamard Rotation</a:t>
            </a:r>
            <a:endParaRPr sz="2700" b="1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3642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Arial" panose="020B0604020202020204"/>
              </a:rPr>
              <a:t>7</a:t>
            </a:r>
            <a:endParaRPr sz="1100" b="0" i="0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4864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4F8A63"/>
                </a:solidFill>
                <a:latin typeface="Arial" panose="020B0604020202020204"/>
              </a:rPr>
              <a:t>Align the quantization unit with token-level decisions.</a:t>
            </a:r>
            <a:endParaRPr sz="1550" b="1" i="0">
              <a:solidFill>
                <a:srgbClr val="4F8A63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4F8A63"/>
                </a:solidFill>
                <a:latin typeface="Arial" panose="020B0604020202020204"/>
              </a:rPr>
              <a:t>▸  </a:t>
            </a:r>
            <a:r>
              <a:rPr sz="1350" b="0" i="0">
                <a:solidFill>
                  <a:srgbClr val="1F2D3D"/>
                </a:solidFill>
                <a:latin typeface="Arial" panose="020B0604020202020204"/>
              </a:rPr>
              <a:t>Split each key/value vector into contiguous tiles (size g); quantize each tile independently with its own scale &amp; zero-point.</a:t>
            </a:r>
            <a:endParaRPr sz="135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4F8A63"/>
                </a:solidFill>
                <a:latin typeface="Arial" panose="020B0604020202020204"/>
              </a:rPr>
              <a:t>▸  </a:t>
            </a:r>
            <a:r>
              <a:rPr sz="1350" b="0" i="0">
                <a:solidFill>
                  <a:srgbClr val="1F2D3D"/>
                </a:solidFill>
                <a:latin typeface="Arial" panose="020B0604020202020204"/>
              </a:rPr>
              <a:t>Key states carry outliers that destabilize low-bit quantization.</a:t>
            </a:r>
            <a:endParaRPr sz="135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4F8A63"/>
                </a:solidFill>
                <a:latin typeface="Arial" panose="020B0604020202020204"/>
              </a:rPr>
              <a:t>▸  </a:t>
            </a:r>
            <a:r>
              <a:rPr sz="1350" b="0" i="0">
                <a:solidFill>
                  <a:srgbClr val="1F2D3D"/>
                </a:solidFill>
                <a:latin typeface="Arial" panose="020B0604020202020204"/>
              </a:rPr>
              <a:t>Apply an orthogonal Hadamard rotation to Q and K before quantizing — it suppresses heavy tails while exactly preserving attention scores (q̃ᵀk̃ = qᵀk).</a:t>
            </a:r>
            <a:endParaRPr sz="1350" b="0" i="0">
              <a:solidFill>
                <a:srgbClr val="1F2D3D"/>
              </a:solidFill>
              <a:latin typeface="Arial" panose="020B0604020202020204"/>
            </a:endParaRPr>
          </a:p>
        </p:txBody>
      </p:sp>
      <p:pic>
        <p:nvPicPr>
          <p:cNvPr id="8" name="Picture 7" descr="hadam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783080"/>
            <a:ext cx="5577840" cy="15868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361188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B6B7B"/>
                </a:solidFill>
                <a:latin typeface="Arial" panose="020B0604020202020204"/>
              </a:rPr>
              <a:t>Key-state distribution before/after rotation (Llama-2-7B): heavy tail suppressed.</a:t>
            </a:r>
            <a:endParaRPr sz="1100" b="0" i="1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43434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2D3D"/>
                </a:solidFill>
                <a:latin typeface="Arial" panose="020B0604020202020204"/>
              </a:rPr>
              <a:t>WikiText-2 PPL — RTN vs. Hadamard rotation (lower is better)</a:t>
            </a:r>
            <a:endParaRPr sz="1350" b="1" i="0">
              <a:solidFill>
                <a:srgbClr val="1F2D3D"/>
              </a:solidFill>
              <a:latin typeface="Arial" panose="020B0604020202020204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4754880"/>
          <a:ext cx="7223760" cy="141732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Setting</a:t>
                      </a:r>
                      <a:endParaRPr sz="105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4F8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4-bit RTN</a:t>
                      </a:r>
                      <a:endParaRPr sz="105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4F8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4-bit Rot.</a:t>
                      </a:r>
                      <a:endParaRPr sz="105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4F8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3-bit RTN</a:t>
                      </a:r>
                      <a:endParaRPr sz="105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4F8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3-bit Rot.</a:t>
                      </a:r>
                      <a:endParaRPr sz="105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4F8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2-bit RTN</a:t>
                      </a:r>
                      <a:endParaRPr sz="105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4F8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2-bit Rot.</a:t>
                      </a:r>
                      <a:endParaRPr sz="105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4F8A63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Quant only</a:t>
                      </a:r>
                      <a:endParaRPr sz="10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5.22</a:t>
                      </a:r>
                      <a:endParaRPr sz="10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4F8A63"/>
                          </a:solidFill>
                          <a:latin typeface="Arial" panose="020B0604020202020204"/>
                        </a:rPr>
                        <a:t>5.14</a:t>
                      </a:r>
                      <a:endParaRPr sz="1050" b="1" i="0">
                        <a:solidFill>
                          <a:srgbClr val="4F8A63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6.57</a:t>
                      </a:r>
                      <a:endParaRPr sz="10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4F8A63"/>
                          </a:solidFill>
                          <a:latin typeface="Arial" panose="020B0604020202020204"/>
                        </a:rPr>
                        <a:t>5.28</a:t>
                      </a:r>
                      <a:endParaRPr sz="1050" b="1" i="0">
                        <a:solidFill>
                          <a:srgbClr val="4F8A63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115.55</a:t>
                      </a:r>
                      <a:endParaRPr sz="10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4F8A63"/>
                          </a:solidFill>
                          <a:latin typeface="Arial" panose="020B0604020202020204"/>
                        </a:rPr>
                        <a:t>5.35</a:t>
                      </a:r>
                      <a:endParaRPr sz="1050" b="1" i="0">
                        <a:solidFill>
                          <a:srgbClr val="4F8A63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+50% KV sparsity</a:t>
                      </a:r>
                      <a:endParaRPr sz="10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5.27</a:t>
                      </a:r>
                      <a:endParaRPr sz="10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5.69</a:t>
                      </a:r>
                      <a:endParaRPr sz="10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6.57</a:t>
                      </a:r>
                      <a:endParaRPr sz="10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4F8A63"/>
                          </a:solidFill>
                          <a:latin typeface="Arial" panose="020B0604020202020204"/>
                        </a:rPr>
                        <a:t>6.35</a:t>
                      </a:r>
                      <a:endParaRPr sz="1050" b="1" i="0">
                        <a:solidFill>
                          <a:srgbClr val="4F8A63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115.55</a:t>
                      </a:r>
                      <a:endParaRPr sz="10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4F8A63"/>
                          </a:solidFill>
                          <a:latin typeface="Arial" panose="020B0604020202020204"/>
                        </a:rPr>
                        <a:t>6.65</a:t>
                      </a:r>
                      <a:endParaRPr sz="1050" b="1" i="0">
                        <a:solidFill>
                          <a:srgbClr val="4F8A63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01000" y="475488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E6F0E9"/>
          </a:solidFill>
          <a:ln w="15875">
            <a:solidFill>
              <a:srgbClr val="4F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4901184"/>
            <a:ext cx="32004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4F8A63"/>
                </a:solidFill>
                <a:latin typeface="Arial" panose="020B0604020202020204"/>
              </a:rPr>
              <a:t>115.55 → 5.35</a:t>
            </a:r>
            <a:endParaRPr sz="2100" b="1" i="0">
              <a:solidFill>
                <a:srgbClr val="4F8A63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D3D"/>
                </a:solidFill>
                <a:latin typeface="Arial" panose="020B0604020202020204"/>
              </a:rPr>
              <a:t>2-bit PPL collapse is eliminated by Hadamard rotation, while staying compatible with subsequent sparsification.</a:t>
            </a:r>
            <a:endParaRPr sz="1200" b="0" i="0">
              <a:solidFill>
                <a:srgbClr val="1F2D3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5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566928" cy="82296"/>
          </a:xfrm>
          <a:prstGeom prst="rect">
            <a:avLst/>
          </a:prstGeom>
          <a:solidFill>
            <a:srgbClr val="B5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B55050"/>
                </a:solidFill>
                <a:latin typeface="Arial" panose="020B0604020202020204"/>
              </a:rPr>
              <a:t>METHOD · MODULE 4</a:t>
            </a:r>
            <a:endParaRPr sz="1250" b="1" i="0">
              <a:solidFill>
                <a:srgbClr val="B55050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D3D"/>
                </a:solidFill>
                <a:latin typeface="Arial" panose="020B0604020202020204"/>
              </a:rPr>
              <a:t>Bitmap-Based Sparse-Quant Format &amp; Decode Kernel</a:t>
            </a:r>
            <a:endParaRPr sz="2700" b="1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3642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Arial" panose="020B0604020202020204"/>
              </a:rPr>
              <a:t>8</a:t>
            </a:r>
            <a:endParaRPr sz="1100" b="0" i="0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F2D3D"/>
                </a:solidFill>
                <a:latin typeface="Arial" panose="020B0604020202020204"/>
              </a:rPr>
              <a:t>Co-design storage format and kernel so compression cuts decode-time memory traffic — not just storage footprint.</a:t>
            </a:r>
            <a:endParaRPr sz="1450" b="0" i="0">
              <a:solidFill>
                <a:srgbClr val="1F2D3D"/>
              </a:solidFill>
              <a:latin typeface="Arial" panose="020B0604020202020204"/>
            </a:endParaRPr>
          </a:p>
        </p:txBody>
      </p:sp>
      <p:pic>
        <p:nvPicPr>
          <p:cNvPr id="8" name="Picture 7" descr="sq_forma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744" y="2468880"/>
            <a:ext cx="4695311" cy="2514600"/>
          </a:xfrm>
          <a:prstGeom prst="rect">
            <a:avLst/>
          </a:prstGeom>
        </p:spPr>
      </p:pic>
      <p:pic>
        <p:nvPicPr>
          <p:cNvPr id="9" name="Picture 8" descr="sq_op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31720"/>
            <a:ext cx="3063240" cy="2122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0292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5B6B7B"/>
                </a:solidFill>
                <a:latin typeface="Arial" panose="020B0604020202020204"/>
              </a:rPr>
              <a:t>(a) Format: bitmap + packed low-bit values + metadata</a:t>
            </a:r>
            <a:endParaRPr sz="1150" b="0" i="1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35040" y="50292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5B6B7B"/>
                </a:solidFill>
                <a:latin typeface="Arial" panose="020B0604020202020204"/>
              </a:rPr>
              <a:t>(b) Load-as-compressed, compute-as-dense</a:t>
            </a:r>
            <a:endParaRPr sz="1150" b="0" i="1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464040" y="2331720"/>
            <a:ext cx="2240280" cy="2697480"/>
          </a:xfrm>
          <a:prstGeom prst="roundRect">
            <a:avLst>
              <a:gd name="adj" fmla="val 6000"/>
            </a:avLst>
          </a:prstGeom>
          <a:solidFill>
            <a:srgbClr val="16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65208" y="2514600"/>
            <a:ext cx="1837944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Arial" panose="020B0604020202020204"/>
              </a:rPr>
              <a:t>Each 1×64 tile stores:</a:t>
            </a:r>
            <a:endParaRPr sz="1250" b="1" i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55050"/>
                </a:solidFill>
                <a:latin typeface="Arial" panose="020B0604020202020204"/>
              </a:rPr>
              <a:t>·  </a:t>
            </a:r>
            <a:r>
              <a:rPr sz="1150" b="0" i="0">
                <a:solidFill>
                  <a:srgbClr val="CFDAEC"/>
                </a:solidFill>
                <a:latin typeface="Arial" panose="020B0604020202020204"/>
              </a:rPr>
              <a:t>Bitmap of nonzeros</a:t>
            </a:r>
            <a:endParaRPr sz="1150" b="0" i="0">
              <a:solidFill>
                <a:srgbClr val="CFDAEC"/>
              </a:solidFill>
              <a:latin typeface="Arial" panose="020B060402020202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55050"/>
                </a:solidFill>
                <a:latin typeface="Arial" panose="020B0604020202020204"/>
              </a:rPr>
              <a:t>·  </a:t>
            </a:r>
            <a:r>
              <a:rPr sz="1150" b="0" i="0">
                <a:solidFill>
                  <a:srgbClr val="CFDAEC"/>
                </a:solidFill>
                <a:latin typeface="Arial" panose="020B0604020202020204"/>
              </a:rPr>
              <a:t>Packed low-bit values</a:t>
            </a:r>
            <a:endParaRPr sz="1150" b="0" i="0">
              <a:solidFill>
                <a:srgbClr val="CFDAEC"/>
              </a:solidFill>
              <a:latin typeface="Arial" panose="020B060402020202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55050"/>
                </a:solidFill>
                <a:latin typeface="Arial" panose="020B0604020202020204"/>
              </a:rPr>
              <a:t>·  </a:t>
            </a:r>
            <a:r>
              <a:rPr sz="1150" b="0" i="0">
                <a:solidFill>
                  <a:srgbClr val="CFDAEC"/>
                </a:solidFill>
                <a:latin typeface="Arial" panose="020B0604020202020204"/>
              </a:rPr>
              <a:t>Per-tile offset</a:t>
            </a:r>
            <a:endParaRPr sz="1150" b="0" i="0">
              <a:solidFill>
                <a:srgbClr val="CFDAEC"/>
              </a:solidFill>
              <a:latin typeface="Arial" panose="020B060402020202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55050"/>
                </a:solidFill>
                <a:latin typeface="Arial" panose="020B0604020202020204"/>
              </a:rPr>
              <a:t>·  </a:t>
            </a:r>
            <a:r>
              <a:rPr sz="1150" b="0" i="0">
                <a:solidFill>
                  <a:srgbClr val="CFDAEC"/>
                </a:solidFill>
                <a:latin typeface="Arial" panose="020B0604020202020204"/>
              </a:rPr>
              <a:t>Scales / zero-points</a:t>
            </a:r>
            <a:endParaRPr sz="1150" b="0" i="0">
              <a:solidFill>
                <a:srgbClr val="CFDAEC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600"/>
              </a:spcAft>
            </a:pPr>
            <a:r>
              <a:rPr sz="1100" b="0" i="0">
                <a:solidFill>
                  <a:srgbClr val="CFDAEC"/>
                </a:solidFill>
                <a:latin typeface="Arial" panose="020B0604020202020204"/>
              </a:rPr>
              <a:t>Kernel loads compressed tiles, unpacks + dequantizes into dense shared memory, then runs Tensor-Core MatVec.</a:t>
            </a:r>
            <a:endParaRPr sz="1100" b="0" i="0">
              <a:solidFill>
                <a:srgbClr val="CFDAEC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544068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F2D3D"/>
                </a:solidFill>
                <a:latin typeface="Arial" panose="020B0604020202020204"/>
              </a:rPr>
              <a:t>Sparsity is handled on the loading path; the compute stage stays dense and regular — avoiding irregular access and control-flow divergence that usually limit sparse execution.</a:t>
            </a:r>
            <a:endParaRPr sz="1300" b="0" i="0">
              <a:solidFill>
                <a:srgbClr val="1F2D3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D6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566928" cy="82296"/>
          </a:xfrm>
          <a:prstGeom prst="rect">
            <a:avLst/>
          </a:prstGeom>
          <a:solidFill>
            <a:srgbClr val="3D6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D6399"/>
                </a:solidFill>
                <a:latin typeface="Arial" panose="020B0604020202020204"/>
              </a:rPr>
              <a:t>EVALUATION</a:t>
            </a:r>
            <a:endParaRPr sz="1250" b="1" i="0">
              <a:solidFill>
                <a:srgbClr val="3D6399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D3D"/>
                </a:solidFill>
                <a:latin typeface="Arial" panose="020B0604020202020204"/>
              </a:rPr>
              <a:t>Experimental Setup</a:t>
            </a:r>
            <a:endParaRPr sz="2700" b="1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3642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Arial" panose="020B0604020202020204"/>
              </a:rPr>
              <a:t>9</a:t>
            </a:r>
            <a:endParaRPr sz="1100" b="0" i="0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2724912" cy="2514600"/>
          </a:xfrm>
          <a:prstGeom prst="roundRect">
            <a:avLst>
              <a:gd name="adj" fmla="val 6000"/>
            </a:avLst>
          </a:prstGeom>
          <a:solidFill>
            <a:srgbClr val="E9EFF7"/>
          </a:solidFill>
          <a:ln w="15875">
            <a:solidFill>
              <a:srgbClr val="3D6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2724912" cy="457200"/>
          </a:xfrm>
          <a:prstGeom prst="roundRect">
            <a:avLst>
              <a:gd name="adj" fmla="val 6000"/>
            </a:avLst>
          </a:prstGeom>
          <a:solidFill>
            <a:srgbClr val="3D6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19"/>
            <a:ext cx="2724912" cy="228600"/>
          </a:xfrm>
          <a:prstGeom prst="rect">
            <a:avLst/>
          </a:prstGeom>
          <a:solidFill>
            <a:srgbClr val="3D6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29383"/>
            <a:ext cx="25054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Arial" panose="020B0604020202020204"/>
              </a:rPr>
              <a:t>Hardware &amp; Stack</a:t>
            </a:r>
            <a:endParaRPr sz="13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1"/>
            <a:ext cx="2359152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3D6399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1 × NVIDIA A100 80GB PCIe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3D6399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Intel Xeon CPU, 252 GB RAM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3D6399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Python 3.10 · PyTorch 2.6 · CUDA 12.4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3D6399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Custom CUDA / Triton kernels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351276" y="1874519"/>
            <a:ext cx="2724912" cy="2514600"/>
          </a:xfrm>
          <a:prstGeom prst="roundRect">
            <a:avLst>
              <a:gd name="adj" fmla="val 6000"/>
            </a:avLst>
          </a:prstGeom>
          <a:solidFill>
            <a:srgbClr val="E6F0E9"/>
          </a:solidFill>
          <a:ln w="15875">
            <a:solidFill>
              <a:srgbClr val="4F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51276" y="1874519"/>
            <a:ext cx="2724912" cy="457200"/>
          </a:xfrm>
          <a:prstGeom prst="roundRect">
            <a:avLst>
              <a:gd name="adj" fmla="val 6000"/>
            </a:avLst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1276" y="2103119"/>
            <a:ext cx="2724912" cy="22860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1004" y="1929383"/>
            <a:ext cx="25054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Arial" panose="020B0604020202020204"/>
              </a:rPr>
              <a:t>Models</a:t>
            </a:r>
            <a:endParaRPr sz="13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34156" y="2496311"/>
            <a:ext cx="2359152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4F8A63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Llama-3-8B-Instruct  (main)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4F8A63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Llama-2-7B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4F8A63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Mistral-7B-v0.1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4F8A63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Qwen2.5-7B-Instruct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99632" y="1874519"/>
            <a:ext cx="2724912" cy="2514600"/>
          </a:xfrm>
          <a:prstGeom prst="roundRect">
            <a:avLst>
              <a:gd name="adj" fmla="val 6000"/>
            </a:avLst>
          </a:prstGeom>
          <a:solidFill>
            <a:srgbClr val="F7EEDC"/>
          </a:solidFill>
          <a:ln w="15875">
            <a:solidFill>
              <a:srgbClr val="C9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2" y="1874519"/>
            <a:ext cx="2724912" cy="457200"/>
          </a:xfrm>
          <a:prstGeom prst="roundRect">
            <a:avLst>
              <a:gd name="adj" fmla="val 6000"/>
            </a:avLst>
          </a:prstGeom>
          <a:solidFill>
            <a:srgbClr val="C9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2103119"/>
            <a:ext cx="2724912" cy="228600"/>
          </a:xfrm>
          <a:prstGeom prst="rect">
            <a:avLst/>
          </a:prstGeom>
          <a:solidFill>
            <a:srgbClr val="C9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929383"/>
            <a:ext cx="25054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Arial" panose="020B0604020202020204"/>
              </a:rPr>
              <a:t>Accuracy Protocol</a:t>
            </a:r>
            <a:endParaRPr sz="13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512" y="2496311"/>
            <a:ext cx="2359152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C9862E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LongBench official pipeline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C9862E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6 tasks: NarrativeQA, Qasper,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C9862E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MultiFieldQA-EN, HotpotQA, TREC, LCC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C9862E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Inputs truncated to 8192 (head-tail)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047988" y="1874519"/>
            <a:ext cx="2724912" cy="2514600"/>
          </a:xfrm>
          <a:prstGeom prst="roundRect">
            <a:avLst>
              <a:gd name="adj" fmla="val 6000"/>
            </a:avLst>
          </a:prstGeom>
          <a:solidFill>
            <a:srgbClr val="F6E7E7"/>
          </a:solidFill>
          <a:ln w="15875">
            <a:solidFill>
              <a:srgbClr val="B5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47988" y="1874519"/>
            <a:ext cx="2724912" cy="457200"/>
          </a:xfrm>
          <a:prstGeom prst="roundRect">
            <a:avLst>
              <a:gd name="adj" fmla="val 6000"/>
            </a:avLst>
          </a:prstGeom>
          <a:solidFill>
            <a:srgbClr val="B5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7988" y="2103119"/>
            <a:ext cx="2724912" cy="228600"/>
          </a:xfrm>
          <a:prstGeom prst="rect">
            <a:avLst/>
          </a:prstGeom>
          <a:solidFill>
            <a:srgbClr val="B5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7716" y="1929383"/>
            <a:ext cx="25054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Arial" panose="020B0604020202020204"/>
              </a:rPr>
              <a:t>Efficiency Protocol</a:t>
            </a:r>
            <a:endParaRPr sz="13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30868" y="2496311"/>
            <a:ext cx="2359152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B55050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Llama-3-8B, 4096 in / 256 out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B55050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Batch size 1 – 8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B55050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Throughput, compression time,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>
                <a:solidFill>
                  <a:srgbClr val="B55050"/>
                </a:solidFill>
                <a:latin typeface="Arial" panose="020B0604020202020204"/>
              </a:rPr>
              <a:t>·  </a:t>
            </a:r>
            <a:r>
              <a:rPr sz="1180" b="0" i="0">
                <a:solidFill>
                  <a:srgbClr val="1F2D3D"/>
                </a:solidFill>
                <a:latin typeface="Arial" panose="020B0604020202020204"/>
              </a:rPr>
              <a:t>KV size &amp; ratio</a:t>
            </a:r>
            <a:endParaRPr sz="118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02920" y="4709160"/>
            <a:ext cx="11201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87375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2D3D"/>
                </a:solidFill>
                <a:latin typeface="Arial" panose="020B0604020202020204"/>
              </a:rPr>
              <a:t>Baselines &amp; compression settings</a:t>
            </a:r>
            <a:endParaRPr sz="1450" b="1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7240" y="5276088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3D6399"/>
                </a:solidFill>
                <a:latin typeface="Arial" panose="020B0604020202020204"/>
              </a:rPr>
              <a:t>▸  </a:t>
            </a:r>
            <a:r>
              <a:rPr sz="1300" b="0" i="0">
                <a:solidFill>
                  <a:srgbClr val="1F2D3D"/>
                </a:solidFill>
                <a:latin typeface="Arial" panose="020B0604020202020204"/>
              </a:rPr>
              <a:t>Baselines:  Dense decoding   ·   matched-budget Uniform sparsity (MUSTAFAR)   ·   sequential MUSTAFAR + KIVI  (denoted M+K).</a:t>
            </a:r>
            <a:endParaRPr sz="130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9862E"/>
                </a:solidFill>
                <a:latin typeface="Arial" panose="020B0604020202020204"/>
              </a:rPr>
              <a:t>▸  </a:t>
            </a:r>
            <a:r>
              <a:rPr sz="1300" b="0" i="0">
                <a:solidFill>
                  <a:srgbClr val="1F2D3D"/>
                </a:solidFill>
                <a:latin typeface="Arial" panose="020B0604020202020204"/>
              </a:rPr>
              <a:t>Settings:  sparse-only at 50% / 70%   ·   joint sparse-quant at 50/50 &amp; 70/70 K/V sparsity with 4-bit and 2-bit quantization. Differential policies selected on a calibration split, re-checked on a disjoint validation split.</a:t>
            </a:r>
            <a:endParaRPr sz="1300" b="0" i="0">
              <a:solidFill>
                <a:srgbClr val="1F2D3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566928" cy="82296"/>
          </a:xfrm>
          <a:prstGeom prst="rect">
            <a:avLst/>
          </a:prstGeom>
          <a:solidFill>
            <a:srgbClr val="C9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C9862E"/>
                </a:solidFill>
                <a:latin typeface="Arial" panose="020B0604020202020204"/>
              </a:rPr>
              <a:t>RESULTS · 1/3</a:t>
            </a:r>
            <a:endParaRPr sz="1250" b="1" i="0">
              <a:solidFill>
                <a:srgbClr val="C9862E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D3D"/>
                </a:solidFill>
                <a:latin typeface="Arial" panose="020B0604020202020204"/>
              </a:rPr>
              <a:t>Accuracy — Differential Sparsity Alone</a:t>
            </a:r>
            <a:endParaRPr sz="2700" b="1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3642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Arial" panose="020B0604020202020204"/>
              </a:rPr>
              <a:t>10</a:t>
            </a:r>
            <a:endParaRPr sz="1100" b="0" i="0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B6B7B"/>
                </a:solidFill>
                <a:latin typeface="Arial" panose="020B0604020202020204"/>
              </a:rPr>
              <a:t>Isolating budget allocation (no quantization): Llama-3-8B-Instruct, 6 LongBench tasks, matched budget.</a:t>
            </a:r>
            <a:endParaRPr sz="1400" b="0" i="1">
              <a:solidFill>
                <a:srgbClr val="5B6B7B"/>
              </a:solidFill>
              <a:latin typeface="Arial" panose="020B060402020202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77440"/>
          <a:ext cx="7818114" cy="3063240"/>
        </p:xfrm>
        <a:graphic>
          <a:graphicData uri="http://schemas.openxmlformats.org/drawingml/2006/table">
            <a:tbl>
              <a:tblPr/>
              <a:tblGrid>
                <a:gridCol w="1874519"/>
                <a:gridCol w="849085"/>
                <a:gridCol w="849085"/>
                <a:gridCol w="849085"/>
                <a:gridCol w="849085"/>
                <a:gridCol w="849085"/>
                <a:gridCol w="849085"/>
                <a:gridCol w="849085"/>
              </a:tblGrid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Method</a:t>
                      </a:r>
                      <a:endParaRPr sz="110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C98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NrtvQA</a:t>
                      </a:r>
                      <a:endParaRPr sz="110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C98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Qasper</a:t>
                      </a:r>
                      <a:endParaRPr sz="110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C98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MF-QA</a:t>
                      </a:r>
                      <a:endParaRPr sz="110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C98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HotpotQA</a:t>
                      </a:r>
                      <a:endParaRPr sz="110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C98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TREC</a:t>
                      </a:r>
                      <a:endParaRPr sz="110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C98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LCC</a:t>
                      </a:r>
                      <a:endParaRPr sz="110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C98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Avg.</a:t>
                      </a:r>
                      <a:endParaRPr sz="110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C9862E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5B6B7B"/>
                          </a:solidFill>
                          <a:latin typeface="Arial" panose="020B0604020202020204"/>
                        </a:rPr>
                        <a:t>Dense</a:t>
                      </a:r>
                      <a:endParaRPr sz="1100" b="1" i="0">
                        <a:solidFill>
                          <a:srgbClr val="5B6B7B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23.45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42.18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43.14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46.06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74.00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57.12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B6B7B"/>
                          </a:solidFill>
                          <a:latin typeface="Arial" panose="020B0604020202020204"/>
                        </a:rPr>
                        <a:t>47.66</a:t>
                      </a:r>
                      <a:endParaRPr sz="1100" b="0" i="0">
                        <a:solidFill>
                          <a:srgbClr val="5B6B7B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ECEFF3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Uniform-50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23.44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43.73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42.93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45.94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73.50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56.03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47.59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C9862E"/>
                          </a:solidFill>
                          <a:latin typeface="Arial" panose="020B0604020202020204"/>
                        </a:rPr>
                        <a:t>Differential-50</a:t>
                      </a:r>
                      <a:endParaRPr sz="1100" b="1" i="0">
                        <a:solidFill>
                          <a:srgbClr val="C9862E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23.44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43.73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42.93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45.94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74.00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57.08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C9862E"/>
                          </a:solidFill>
                          <a:latin typeface="Arial" panose="020B0604020202020204"/>
                        </a:rPr>
                        <a:t>47.85</a:t>
                      </a:r>
                      <a:endParaRPr sz="1100" b="1" i="0">
                        <a:solidFill>
                          <a:srgbClr val="C9862E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Uniform-70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23.94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40.89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40.91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44.93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70.00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54.12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45.80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C9862E"/>
                          </a:solidFill>
                          <a:latin typeface="Arial" panose="020B0604020202020204"/>
                        </a:rPr>
                        <a:t>Differential-70</a:t>
                      </a:r>
                      <a:endParaRPr sz="1100" b="1" i="0">
                        <a:solidFill>
                          <a:srgbClr val="C9862E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23.94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41.03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41.61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45.12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72.50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55.45</a:t>
                      </a:r>
                      <a:endParaRPr sz="110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C9862E"/>
                          </a:solidFill>
                          <a:latin typeface="Arial" panose="020B0604020202020204"/>
                        </a:rPr>
                        <a:t>46.61</a:t>
                      </a:r>
                      <a:endParaRPr sz="1100" b="1" i="0">
                        <a:solidFill>
                          <a:srgbClr val="C9862E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7EED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595360" y="2377440"/>
            <a:ext cx="3108960" cy="3063240"/>
          </a:xfrm>
          <a:prstGeom prst="roundRect">
            <a:avLst>
              <a:gd name="adj" fmla="val 6000"/>
            </a:avLst>
          </a:prstGeom>
          <a:solidFill>
            <a:srgbClr val="F7EEDC"/>
          </a:solidFill>
          <a:ln w="15875">
            <a:solidFill>
              <a:srgbClr val="C9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51392" y="2633472"/>
            <a:ext cx="2596896" cy="2606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C9862E"/>
                </a:solidFill>
                <a:latin typeface="Arial" panose="020B0604020202020204"/>
              </a:rPr>
              <a:t>Takeaways</a:t>
            </a:r>
            <a:endParaRPr sz="1500" b="1" i="0">
              <a:solidFill>
                <a:srgbClr val="C9862E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9862E"/>
                </a:solidFill>
                <a:latin typeface="Arial" panose="020B0604020202020204"/>
              </a:rPr>
              <a:t>▸  </a:t>
            </a:r>
            <a:r>
              <a:rPr sz="1300" b="0" i="0">
                <a:solidFill>
                  <a:srgbClr val="1F2D3D"/>
                </a:solidFill>
                <a:latin typeface="Arial" panose="020B0604020202020204"/>
              </a:rPr>
              <a:t>Differential ≥ uniform in every setting — never negative.</a:t>
            </a:r>
            <a:endParaRPr sz="130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9862E"/>
                </a:solidFill>
                <a:latin typeface="Arial" panose="020B0604020202020204"/>
              </a:rPr>
              <a:t>▸  </a:t>
            </a:r>
            <a:r>
              <a:rPr sz="1300" b="0" i="0">
                <a:solidFill>
                  <a:srgbClr val="1F2D3D"/>
                </a:solidFill>
                <a:latin typeface="Arial" panose="020B0604020202020204"/>
              </a:rPr>
              <a:t>+0.81 avg at 70% vs +0.26 at 50%.</a:t>
            </a:r>
            <a:endParaRPr sz="1300" b="0" i="0">
              <a:solidFill>
                <a:srgbClr val="1F2D3D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9862E"/>
                </a:solidFill>
                <a:latin typeface="Arial" panose="020B0604020202020204"/>
              </a:rPr>
              <a:t>▸  </a:t>
            </a:r>
            <a:r>
              <a:rPr sz="1300" b="0" i="0">
                <a:solidFill>
                  <a:srgbClr val="1F2D3D"/>
                </a:solidFill>
                <a:latin typeface="Arial" panose="020B0604020202020204"/>
              </a:rPr>
              <a:t>Token-level allocation matters more as the budget tightens.</a:t>
            </a:r>
            <a:endParaRPr sz="1300" b="0" i="0">
              <a:solidFill>
                <a:srgbClr val="1F2D3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566928" cy="82296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4F8A63"/>
                </a:solidFill>
                <a:latin typeface="Arial" panose="020B0604020202020204"/>
              </a:rPr>
              <a:t>RESULTS · 2/3</a:t>
            </a:r>
            <a:endParaRPr sz="1250" b="1" i="0">
              <a:solidFill>
                <a:srgbClr val="4F8A63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D3D"/>
                </a:solidFill>
                <a:latin typeface="Arial" panose="020B0604020202020204"/>
              </a:rPr>
              <a:t>Accuracy — Joint Sparse-Quant (Main Result)</a:t>
            </a:r>
            <a:endParaRPr sz="2700" b="1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3642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Arial" panose="020B0604020202020204"/>
              </a:rPr>
              <a:t>11</a:t>
            </a:r>
            <a:endParaRPr sz="1100" b="0" i="0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B6B7B"/>
                </a:solidFill>
                <a:latin typeface="Arial" panose="020B0604020202020204"/>
              </a:rPr>
              <a:t>Llama-3-8B-Instruct vs. sequential MUSTAFAR+KIVI (M+K) at matched budgets — average over 6 tasks.</a:t>
            </a:r>
            <a:endParaRPr sz="1400" b="0" i="1">
              <a:solidFill>
                <a:srgbClr val="5B6B7B"/>
              </a:solidFill>
              <a:latin typeface="Arial" panose="020B060402020202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31720"/>
          <a:ext cx="5943600" cy="32004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164592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Setting</a:t>
                      </a:r>
                      <a:endParaRPr sz="125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4F8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M+K</a:t>
                      </a:r>
                      <a:endParaRPr sz="125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4F8A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JSQKV</a:t>
                      </a:r>
                      <a:endParaRPr sz="125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4F8A6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50/50 + 4-bit</a:t>
                      </a:r>
                      <a:endParaRPr sz="12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B6B7B"/>
                          </a:solidFill>
                          <a:latin typeface="Arial" panose="020B0604020202020204"/>
                        </a:rPr>
                        <a:t>45.90</a:t>
                      </a:r>
                      <a:endParaRPr sz="1250" b="0" i="0">
                        <a:solidFill>
                          <a:srgbClr val="5B6B7B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4F8A63"/>
                          </a:solidFill>
                          <a:latin typeface="Arial" panose="020B0604020202020204"/>
                        </a:rPr>
                        <a:t>45.93   (+0.03)</a:t>
                      </a:r>
                      <a:endParaRPr sz="1250" b="1" i="0">
                        <a:solidFill>
                          <a:srgbClr val="4F8A63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50/50 + 2-bit</a:t>
                      </a:r>
                      <a:endParaRPr sz="12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B6B7B"/>
                          </a:solidFill>
                          <a:latin typeface="Arial" panose="020B0604020202020204"/>
                        </a:rPr>
                        <a:t>43.38</a:t>
                      </a:r>
                      <a:endParaRPr sz="1250" b="0" i="0">
                        <a:solidFill>
                          <a:srgbClr val="5B6B7B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4F8A63"/>
                          </a:solidFill>
                          <a:latin typeface="Arial" panose="020B0604020202020204"/>
                        </a:rPr>
                        <a:t>44.02   (+0.64)</a:t>
                      </a:r>
                      <a:endParaRPr sz="1250" b="1" i="0">
                        <a:solidFill>
                          <a:srgbClr val="4F8A63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70/70 + 4-bit</a:t>
                      </a:r>
                      <a:endParaRPr sz="12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B6B7B"/>
                          </a:solidFill>
                          <a:latin typeface="Arial" panose="020B0604020202020204"/>
                        </a:rPr>
                        <a:t>44.18</a:t>
                      </a:r>
                      <a:endParaRPr sz="1250" b="0" i="0">
                        <a:solidFill>
                          <a:srgbClr val="5B6B7B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4F8A63"/>
                          </a:solidFill>
                          <a:latin typeface="Arial" panose="020B0604020202020204"/>
                        </a:rPr>
                        <a:t>45.34   (+1.16)</a:t>
                      </a:r>
                      <a:endParaRPr sz="1250" b="1" i="0">
                        <a:solidFill>
                          <a:srgbClr val="4F8A63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70/70 + 2-bit</a:t>
                      </a:r>
                      <a:endParaRPr sz="1250" b="1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E6F0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B6B7B"/>
                          </a:solidFill>
                          <a:latin typeface="Arial" panose="020B0604020202020204"/>
                        </a:rPr>
                        <a:t>39.83</a:t>
                      </a:r>
                      <a:endParaRPr sz="1250" b="0" i="0">
                        <a:solidFill>
                          <a:srgbClr val="5B6B7B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E6F0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4F8A63"/>
                          </a:solidFill>
                          <a:latin typeface="Arial" panose="020B0604020202020204"/>
                        </a:rPr>
                        <a:t>43.12   (+3.29)</a:t>
                      </a:r>
                      <a:endParaRPr sz="1250" b="1" i="0">
                        <a:solidFill>
                          <a:srgbClr val="4F8A63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E6F0E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20840" y="2331720"/>
            <a:ext cx="4983480" cy="1508760"/>
          </a:xfrm>
          <a:prstGeom prst="roundRect">
            <a:avLst>
              <a:gd name="adj" fmla="val 6000"/>
            </a:avLst>
          </a:prstGeom>
          <a:solidFill>
            <a:srgbClr val="16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532888"/>
            <a:ext cx="43434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 panose="020B0604020202020204"/>
              </a:rPr>
              <a:t>39.83  →  43.12</a:t>
            </a:r>
            <a:endParaRPr sz="3000" b="1" i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DAEC"/>
                </a:solidFill>
                <a:latin typeface="Arial" panose="020B0604020202020204"/>
              </a:rPr>
              <a:t>Largest gain at the most aggressive 70/70 + 2-bit setting (+3.29 avg).</a:t>
            </a:r>
            <a:endParaRPr sz="1300" b="0" i="0">
              <a:solidFill>
                <a:srgbClr val="CFDAEC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20840" y="4023360"/>
            <a:ext cx="49834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4206240"/>
            <a:ext cx="4343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4F8A63"/>
                </a:solidFill>
                <a:latin typeface="Arial" panose="020B0604020202020204"/>
              </a:rPr>
              <a:t>Why JSQKV wins</a:t>
            </a:r>
            <a:endParaRPr sz="1450" b="1" i="0">
              <a:solidFill>
                <a:srgbClr val="4F8A63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D3D"/>
                </a:solidFill>
                <a:latin typeface="Arial" panose="020B0604020202020204"/>
              </a:rPr>
              <a:t>JSQKV beats M+K in all four settings; the gap widens as compression gets more aggressive — evidence that jointly aligning sparsity, quantization and execution beats a sequential pipeline.</a:t>
            </a:r>
            <a:endParaRPr sz="125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557784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5B6B7B"/>
                </a:solidFill>
                <a:latin typeface="Arial" panose="020B0604020202020204"/>
              </a:rPr>
              <a:t>Cross-model (Llama-2 / Mistral / Qwen2.5): favorable but non-uniform, strongest under tight budgets.</a:t>
            </a:r>
            <a:endParaRPr sz="1150" b="0" i="1">
              <a:solidFill>
                <a:srgbClr val="5B6B7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5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566928" cy="82296"/>
          </a:xfrm>
          <a:prstGeom prst="rect">
            <a:avLst/>
          </a:prstGeom>
          <a:solidFill>
            <a:srgbClr val="B5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B55050"/>
                </a:solidFill>
                <a:latin typeface="Arial" panose="020B0604020202020204"/>
              </a:rPr>
              <a:t>RESULTS · 3/3</a:t>
            </a:r>
            <a:endParaRPr sz="1250" b="1" i="0">
              <a:solidFill>
                <a:srgbClr val="B55050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D3D"/>
                </a:solidFill>
                <a:latin typeface="Arial" panose="020B0604020202020204"/>
              </a:rPr>
              <a:t>Efficiency — Throughput &amp; Compression</a:t>
            </a:r>
            <a:endParaRPr sz="2700" b="1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3642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Arial" panose="020B0604020202020204"/>
              </a:rPr>
              <a:t>12</a:t>
            </a:r>
            <a:endParaRPr sz="1100" b="0" i="0">
              <a:solidFill>
                <a:srgbClr val="5B6B7B"/>
              </a:solidFill>
              <a:latin typeface="Arial" panose="020B0604020202020204"/>
            </a:endParaRPr>
          </a:p>
        </p:txBody>
      </p:sp>
      <p:pic>
        <p:nvPicPr>
          <p:cNvPr id="7" name="Picture 6" descr="throughpu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5669280" cy="35495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39496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5B6B7B"/>
                </a:solidFill>
                <a:latin typeface="Arial" panose="020B0604020202020204"/>
              </a:rPr>
              <a:t>End-to-end decoding throughput vs. batch size (Llama-3-8B).</a:t>
            </a:r>
            <a:endParaRPr sz="1150" b="0" i="1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303520" cy="1417320"/>
          </a:xfrm>
          <a:prstGeom prst="roundRect">
            <a:avLst>
              <a:gd name="adj" fmla="val 6000"/>
            </a:avLst>
          </a:prstGeom>
          <a:solidFill>
            <a:srgbClr val="F6E7E7"/>
          </a:solidFill>
          <a:ln w="15875">
            <a:solidFill>
              <a:srgbClr val="B5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8" y="1993392"/>
            <a:ext cx="47183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B55050"/>
                </a:solidFill>
                <a:latin typeface="Arial" panose="020B0604020202020204"/>
              </a:rPr>
              <a:t>+44.2%  end-to-end throughput</a:t>
            </a:r>
            <a:endParaRPr sz="2200" b="1" i="0">
              <a:solidFill>
                <a:srgbClr val="B55050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D3D"/>
                </a:solidFill>
                <a:latin typeface="Arial" panose="020B0604020202020204"/>
              </a:rPr>
              <a:t>over dense decoding in long-context serving (70/70 + 2-bit); clearest gains in the small-to-medium batch regime.</a:t>
            </a:r>
            <a:endParaRPr sz="125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34290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2D3D"/>
                </a:solidFill>
                <a:latin typeface="Arial" panose="020B0604020202020204"/>
              </a:rPr>
              <a:t>Compression statistics (input 4096) — 70% vs. 70/70+2-bit</a:t>
            </a:r>
            <a:endParaRPr sz="1300" b="1" i="0">
              <a:solidFill>
                <a:srgbClr val="1F2D3D"/>
              </a:solidFill>
              <a:latin typeface="Arial" panose="020B0604020202020204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840480"/>
          <a:ext cx="5303520" cy="1874519"/>
        </p:xfrm>
        <a:graphic>
          <a:graphicData uri="http://schemas.openxmlformats.org/drawingml/2006/table">
            <a:tbl>
              <a:tblPr/>
              <a:tblGrid>
                <a:gridCol w="2103120"/>
                <a:gridCol w="1066800"/>
                <a:gridCol w="1066800"/>
                <a:gridCol w="1066800"/>
              </a:tblGrid>
              <a:tr h="374903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Method (BS=8)</a:t>
                      </a:r>
                      <a:endParaRPr sz="115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B550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KV (MB)</a:t>
                      </a:r>
                      <a:endParaRPr sz="115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B550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Ratio</a:t>
                      </a:r>
                      <a:endParaRPr sz="115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B550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Time (ms)</a:t>
                      </a:r>
                      <a:endParaRPr sz="1150" b="1" i="0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B55050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Sparse-50</a:t>
                      </a:r>
                      <a:endParaRPr sz="11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2720.2</a:t>
                      </a:r>
                      <a:endParaRPr sz="11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1.51×</a:t>
                      </a:r>
                      <a:endParaRPr sz="11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5688.2</a:t>
                      </a:r>
                      <a:endParaRPr sz="11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Sparse-70</a:t>
                      </a:r>
                      <a:endParaRPr sz="11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1964.3</a:t>
                      </a:r>
                      <a:endParaRPr sz="11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2.09×</a:t>
                      </a:r>
                      <a:endParaRPr sz="11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5411.3</a:t>
                      </a:r>
                      <a:endParaRPr sz="11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0F3F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Sparse-50 + 2b</a:t>
                      </a:r>
                      <a:endParaRPr sz="11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1261.2</a:t>
                      </a:r>
                      <a:endParaRPr sz="11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3.25×</a:t>
                      </a:r>
                      <a:endParaRPr sz="11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4317.9</a:t>
                      </a:r>
                      <a:endParaRPr sz="1150" b="0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Sparse-70 + 2b</a:t>
                      </a:r>
                      <a:endParaRPr sz="1150" b="1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6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1176.3</a:t>
                      </a:r>
                      <a:endParaRPr sz="1150" b="1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6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B55050"/>
                          </a:solidFill>
                          <a:latin typeface="Arial" panose="020B0604020202020204"/>
                        </a:rPr>
                        <a:t>3.48×</a:t>
                      </a:r>
                      <a:endParaRPr sz="1150" b="1" i="0">
                        <a:solidFill>
                          <a:srgbClr val="B55050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6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D3D"/>
                          </a:solidFill>
                          <a:latin typeface="Arial" panose="020B0604020202020204"/>
                        </a:rPr>
                        <a:t>4293.2</a:t>
                      </a:r>
                      <a:endParaRPr sz="1150" b="1" i="0">
                        <a:solidFill>
                          <a:srgbClr val="1F2D3D"/>
                        </a:solidFill>
                        <a:latin typeface="Arial" panose="020B0604020202020204"/>
                      </a:endParaRPr>
                    </a:p>
                  </a:txBody>
                  <a:tcPr marL="36576" marR="36576" marT="18288" marB="18288" anchor="ctr">
                    <a:solidFill>
                      <a:srgbClr val="F6E7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0" y="580644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5B6B7B"/>
                </a:solidFill>
                <a:latin typeface="Arial" panose="020B0604020202020204"/>
              </a:rPr>
              <a:t>Higher compression ratio (2.09× → 3.48×) AND lower compression time (5411 → 4293 ms): the compact sparse-quant representation also cuts write-back cost.</a:t>
            </a:r>
            <a:endParaRPr sz="1150" b="0" i="1">
              <a:solidFill>
                <a:srgbClr val="5B6B7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D6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566928" cy="82296"/>
          </a:xfrm>
          <a:prstGeom prst="rect">
            <a:avLst/>
          </a:prstGeom>
          <a:solidFill>
            <a:srgbClr val="3D6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D6399"/>
                </a:solidFill>
                <a:latin typeface="Arial" panose="020B0604020202020204"/>
              </a:rPr>
              <a:t>SUMMARY</a:t>
            </a:r>
            <a:endParaRPr sz="1250" b="1" i="0">
              <a:solidFill>
                <a:srgbClr val="3D6399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D3D"/>
                </a:solidFill>
                <a:latin typeface="Arial" panose="020B0604020202020204"/>
              </a:rPr>
              <a:t>Conclusion</a:t>
            </a:r>
            <a:endParaRPr sz="2700" b="1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3642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Arial" panose="020B0604020202020204"/>
              </a:rPr>
              <a:t>13</a:t>
            </a:r>
            <a:endParaRPr sz="1100" b="0" i="0">
              <a:solidFill>
                <a:srgbClr val="5B6B7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D3D"/>
                </a:solidFill>
                <a:latin typeface="Arial" panose="020B0604020202020204"/>
              </a:rPr>
              <a:t>JSQKV treats KV-cache compression as a systems-and-algorithms co-design problem — not a simple composition of independent post-processing steps.</a:t>
            </a:r>
            <a:endParaRPr sz="1600" b="1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2743200"/>
            <a:ext cx="2724912" cy="1600200"/>
          </a:xfrm>
          <a:prstGeom prst="roundRect">
            <a:avLst>
              <a:gd name="adj" fmla="val 6000"/>
            </a:avLst>
          </a:prstGeom>
          <a:solidFill>
            <a:srgbClr val="F7EEDC"/>
          </a:solidFill>
          <a:ln w="15875">
            <a:solidFill>
              <a:srgbClr val="C9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2724912" cy="82296"/>
          </a:xfrm>
          <a:prstGeom prst="rect">
            <a:avLst/>
          </a:prstGeom>
          <a:solidFill>
            <a:srgbClr val="C9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62656"/>
            <a:ext cx="235915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9862E"/>
                </a:solidFill>
                <a:latin typeface="Arial" panose="020B0604020202020204"/>
              </a:rPr>
              <a:t>Differential sparsity</a:t>
            </a:r>
            <a:endParaRPr sz="1400" b="1" i="0">
              <a:solidFill>
                <a:srgbClr val="C9862E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D3D"/>
                </a:solidFill>
                <a:latin typeface="Arial" panose="020B0604020202020204"/>
              </a:rPr>
              <a:t>3-level, budgeted token allocation from prefill attention.</a:t>
            </a:r>
            <a:endParaRPr sz="120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51276" y="2743200"/>
            <a:ext cx="2724912" cy="1600200"/>
          </a:xfrm>
          <a:prstGeom prst="roundRect">
            <a:avLst>
              <a:gd name="adj" fmla="val 6000"/>
            </a:avLst>
          </a:prstGeom>
          <a:solidFill>
            <a:srgbClr val="ECE8F3"/>
          </a:solidFill>
          <a:ln w="15875">
            <a:solidFill>
              <a:srgbClr val="74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1276" y="2743200"/>
            <a:ext cx="2724912" cy="82296"/>
          </a:xfrm>
          <a:prstGeom prst="rect">
            <a:avLst/>
          </a:prstGeom>
          <a:solidFill>
            <a:srgbClr val="746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4156" y="2962656"/>
            <a:ext cx="235915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4639E"/>
                </a:solidFill>
                <a:latin typeface="Arial" panose="020B0604020202020204"/>
              </a:rPr>
              <a:t>Dual-window online</a:t>
            </a:r>
            <a:endParaRPr sz="1400" b="1" i="0">
              <a:solidFill>
                <a:srgbClr val="74639E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D3D"/>
                </a:solidFill>
                <a:latin typeface="Arial" panose="020B0604020202020204"/>
              </a:rPr>
              <a:t>Makes the policy applicable during autoregressive decoding.</a:t>
            </a:r>
            <a:endParaRPr sz="120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99632" y="2743200"/>
            <a:ext cx="2724912" cy="1600200"/>
          </a:xfrm>
          <a:prstGeom prst="roundRect">
            <a:avLst>
              <a:gd name="adj" fmla="val 6000"/>
            </a:avLst>
          </a:prstGeom>
          <a:solidFill>
            <a:srgbClr val="E6F0E9"/>
          </a:solidFill>
          <a:ln w="15875">
            <a:solidFill>
              <a:srgbClr val="4F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2743200"/>
            <a:ext cx="2724912" cy="82296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962656"/>
            <a:ext cx="235915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F8A63"/>
                </a:solidFill>
                <a:latin typeface="Arial" panose="020B0604020202020204"/>
              </a:rPr>
              <a:t>Per-Token-Tile quant</a:t>
            </a:r>
            <a:endParaRPr sz="1400" b="1" i="0">
              <a:solidFill>
                <a:srgbClr val="4F8A63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D3D"/>
                </a:solidFill>
                <a:latin typeface="Arial" panose="020B0604020202020204"/>
              </a:rPr>
              <a:t>Hadamard-stabilized low-bit representation aligned to tiles.</a:t>
            </a:r>
            <a:endParaRPr sz="120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047988" y="2743200"/>
            <a:ext cx="2724912" cy="1600200"/>
          </a:xfrm>
          <a:prstGeom prst="roundRect">
            <a:avLst>
              <a:gd name="adj" fmla="val 6000"/>
            </a:avLst>
          </a:prstGeom>
          <a:solidFill>
            <a:srgbClr val="F6E7E7"/>
          </a:solidFill>
          <a:ln w="15875">
            <a:solidFill>
              <a:srgbClr val="B5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7988" y="2743200"/>
            <a:ext cx="2724912" cy="82296"/>
          </a:xfrm>
          <a:prstGeom prst="rect">
            <a:avLst/>
          </a:prstGeom>
          <a:solidFill>
            <a:srgbClr val="B5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0868" y="2962656"/>
            <a:ext cx="235915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55050"/>
                </a:solidFill>
                <a:latin typeface="Arial" panose="020B0604020202020204"/>
              </a:rPr>
              <a:t>Sparse-quant kernel</a:t>
            </a:r>
            <a:endParaRPr sz="1400" b="1" i="0">
              <a:solidFill>
                <a:srgbClr val="B55050"/>
              </a:solidFill>
              <a:latin typeface="Arial" panose="020B0604020202020204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D3D"/>
                </a:solidFill>
                <a:latin typeface="Arial" panose="020B0604020202020204"/>
              </a:rPr>
              <a:t>Load-compressed / compute-dense: turns compression into speedup.</a:t>
            </a:r>
            <a:endParaRPr sz="1200" b="0" i="0">
              <a:solidFill>
                <a:srgbClr val="1F2D3D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4709160"/>
            <a:ext cx="11201400" cy="1600200"/>
          </a:xfrm>
          <a:prstGeom prst="roundRect">
            <a:avLst>
              <a:gd name="adj" fmla="val 6000"/>
            </a:avLst>
          </a:prstGeom>
          <a:solidFill>
            <a:srgbClr val="16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1032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9FB4D4"/>
                </a:solidFill>
                <a:latin typeface="Arial" panose="020B0604020202020204"/>
              </a:rPr>
              <a:t>Headline results (Llama-3-8B-Instruct)</a:t>
            </a:r>
            <a:endParaRPr sz="1400" b="1" i="0">
              <a:solidFill>
                <a:srgbClr val="9FB4D4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05840" y="5330952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Arial" panose="020B0604020202020204"/>
              </a:rPr>
              <a:t>39.83 → 43.12</a:t>
            </a:r>
            <a:endParaRPr sz="2700" b="1" i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5D2E6"/>
                </a:solidFill>
                <a:latin typeface="Arial" panose="020B0604020202020204"/>
              </a:rPr>
              <a:t>avg score, 70/70+2-bit</a:t>
            </a:r>
            <a:endParaRPr sz="1250" b="0" i="0">
              <a:solidFill>
                <a:srgbClr val="C5D2E6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17720" y="5330952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Arial" panose="020B0604020202020204"/>
              </a:rPr>
              <a:t>+44.2%</a:t>
            </a:r>
            <a:endParaRPr sz="2700" b="1" i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5D2E6"/>
                </a:solidFill>
                <a:latin typeface="Arial" panose="020B0604020202020204"/>
              </a:rPr>
              <a:t>end-to-end throughput</a:t>
            </a:r>
            <a:endParaRPr sz="1250" b="0" i="0">
              <a:solidFill>
                <a:srgbClr val="C5D2E6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600" y="5330952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Arial" panose="020B0604020202020204"/>
              </a:rPr>
              <a:t>3.48×</a:t>
            </a:r>
            <a:endParaRPr sz="2700" b="1" i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5D2E6"/>
                </a:solidFill>
                <a:latin typeface="Arial" panose="020B0604020202020204"/>
              </a:rPr>
              <a:t>KV-cache compression</a:t>
            </a:r>
            <a:endParaRPr sz="1250" b="0" i="0">
              <a:solidFill>
                <a:srgbClr val="C5D2E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438704" cy="128016"/>
          </a:xfrm>
          <a:prstGeom prst="rect">
            <a:avLst/>
          </a:prstGeom>
          <a:solidFill>
            <a:srgbClr val="3D6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704" cy="128016"/>
          </a:xfrm>
          <a:prstGeom prst="rect">
            <a:avLst/>
          </a:prstGeom>
          <a:solidFill>
            <a:srgbClr val="3D6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704" y="0"/>
            <a:ext cx="2438704" cy="128016"/>
          </a:xfrm>
          <a:prstGeom prst="rect">
            <a:avLst/>
          </a:prstGeom>
          <a:solidFill>
            <a:srgbClr val="C9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38704" y="6729984"/>
            <a:ext cx="2438704" cy="128016"/>
          </a:xfrm>
          <a:prstGeom prst="rect">
            <a:avLst/>
          </a:prstGeom>
          <a:solidFill>
            <a:srgbClr val="C9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7408" y="0"/>
            <a:ext cx="2438704" cy="128016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77408" y="6729984"/>
            <a:ext cx="2438704" cy="128016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6112" y="0"/>
            <a:ext cx="2438704" cy="128016"/>
          </a:xfrm>
          <a:prstGeom prst="rect">
            <a:avLst/>
          </a:prstGeom>
          <a:solidFill>
            <a:srgbClr val="746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6112" y="6729984"/>
            <a:ext cx="2438704" cy="128016"/>
          </a:xfrm>
          <a:prstGeom prst="rect">
            <a:avLst/>
          </a:prstGeom>
          <a:solidFill>
            <a:srgbClr val="746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54816" y="0"/>
            <a:ext cx="2438704" cy="128016"/>
          </a:xfrm>
          <a:prstGeom prst="rect">
            <a:avLst/>
          </a:prstGeom>
          <a:solidFill>
            <a:srgbClr val="B5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54816" y="6729984"/>
            <a:ext cx="2438704" cy="128016"/>
          </a:xfrm>
          <a:prstGeom prst="rect">
            <a:avLst/>
          </a:prstGeom>
          <a:solidFill>
            <a:srgbClr val="B5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317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Arial" panose="020B0604020202020204"/>
              </a:rPr>
              <a:t>Thank You</a:t>
            </a:r>
            <a:endParaRPr sz="5400" b="1" i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C5D2E6"/>
                </a:solidFill>
                <a:latin typeface="Arial" panose="020B0604020202020204"/>
              </a:rPr>
              <a:t>Questions &amp; Discussion</a:t>
            </a:r>
            <a:endParaRPr sz="2400" b="1" i="0">
              <a:solidFill>
                <a:srgbClr val="C5D2E6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9C7DE"/>
                </a:solidFill>
                <a:latin typeface="Arial" panose="020B0604020202020204"/>
              </a:rPr>
              <a:t>JSQKV — Joint Sparsification and Quantization for KV-Cache Compression and Decode Acceleration</a:t>
            </a:r>
            <a:endParaRPr sz="1400" b="1" i="0">
              <a:solidFill>
                <a:srgbClr val="B9C7DE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DA3C6"/>
                </a:solidFill>
                <a:latin typeface="Arial" panose="020B0604020202020204"/>
              </a:rPr>
              <a:t>Hao Zhang, Xiaoli Gong*, Haoran Li, Huayou Su, Qingxia Chen, Jin Zhang   ·   Nankai University</a:t>
            </a:r>
            <a:endParaRPr sz="1250" b="0" i="0">
              <a:solidFill>
                <a:srgbClr val="8DA3C6"/>
              </a:solidFill>
              <a:latin typeface="Arial" panose="020B0604020202020204"/>
            </a:endParaRP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600"/>
              </a:spcAft>
            </a:pPr>
            <a:r>
              <a:rPr sz="1250" b="0" i="1">
                <a:solidFill>
                  <a:srgbClr val="8DA3C6"/>
                </a:solidFill>
                <a:latin typeface="Arial" panose="020B0604020202020204"/>
              </a:rPr>
              <a:t>Code:  github.com/Haozon/JSQKV</a:t>
            </a:r>
            <a:endParaRPr sz="1250" b="0" i="1">
              <a:solidFill>
                <a:srgbClr val="8DA3C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9541</Words>
  <Application>WPS 演示</Application>
  <PresentationFormat>On-screen Show (4:3)</PresentationFormat>
  <Paragraphs>485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Helianthus</cp:lastModifiedBy>
  <cp:revision>2</cp:revision>
  <dcterms:created xsi:type="dcterms:W3CDTF">2013-01-27T09:14:00Z</dcterms:created>
  <dcterms:modified xsi:type="dcterms:W3CDTF">2026-07-28T01:39:54Z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ECF24BDAC2FD4709893D50E65A5F223A_12</vt:lpwstr>
  </property>
</Properties>
</file>