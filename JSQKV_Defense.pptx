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[0:00-0:30]  Good morning / afternoon, everyone. Thank you for being here. My name is Hao Zhang, from the College of Computer Science at Nankai University. Today I'll present our work, JSQKV -- a joint sparsification and quantization framework for KV-cache compression and decode acceleration. This is joint work with my collaborators at Nankai University, the National University of Defense Technology, and the Qian Xuesen Laboratory.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[0:30-1:20]  Let me start with the problem. As context windows keep growing, the real bottleneck of autoregressive decoding is no longer computation -- it's the KV cache.</a:t>
            </a:r>
          </a:p>
          <a:p/>
          <a:p>
            <a:r>
              <a:t>The KV cache grows LINEARLY with context length, and it is re-read at EVERY single decode step. So in long-context serving, it dominates memory footprint and memory bandwidth, and it caps throughput, batch size, and deployment efficiency. The key point on the right: decoding is memory-bound -- bandwidth, not FLOPs, is the true limiter.</a:t>
            </a:r>
          </a:p>
          <a:p/>
          <a:p>
            <a:r>
              <a:t>To address this, the community has two mainstream directions: sparsification -- evicting or pruning less useful KV states -- and low-bit quantization -- reducing the numerical precision of what's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[1:20-2:10]  Both directions work well on their own. The natural idea is to simply combine them -- sparsify, then quantize. But that naive chaining DOES NOT work, for two reasons.</a:t>
            </a:r>
          </a:p>
          <a:p/>
          <a:p>
            <a:r>
              <a:t>First, a representation-and-execution gap. Sparsification changes not just how MUCH KV you keep, but the retained token and feature LAYOUT. That shifts quantization granularity, the compressed data layout, and the decode kernel -- so algorithmic compression gains don't automatically become lower memory traffic.</a:t>
            </a:r>
          </a:p>
          <a:p/>
          <a:p>
            <a:r>
              <a:t>Second, an online-decision gap. Token-differential compression is easy in prefill, where future attention is observable. But during decoding, a token must be cached BEFORE we know how important it will be.</a:t>
            </a:r>
          </a:p>
          <a:p/>
          <a:p>
            <a:r>
              <a:t>So the real challenge, at the bottom: preserve model quality under aggressive compression, AND keep the compressed representation directly executable for real speedup.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[2:10-2:55]  Our answer is JSQKV -- a unified sparse-quant decode pipeline. Instead of treating sparsity and quantization as separate post-processing steps, we co-design three things together: the compression POLICY, the compressed FORMAT, and the EXECUTION path.</a:t>
            </a:r>
          </a:p>
          <a:p/>
          <a:p>
            <a:r>
              <a:t>Concretely, there are four contributions, shown along the bottom, and I'll walk through each: differential sparsity -- a budgeted three-level token policy; a dual-window mechanism that makes it work online; Per-Token-Tile quantization with Hadamard rotation; and a bitmap-based sparse-quant kernel that loads compressed but computes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[2:55-3:55]  First module: budgeted differential sparsity. The idea is simple -- not all tokens deserve the same compression. A fixed sparsity ratio wastes budget on unimportant tokens and over-compresses important ones.</a:t>
            </a:r>
          </a:p>
          <a:p/>
          <a:p>
            <a:r>
              <a:t>So we estimate token importance from prefill attention: each token's score is the average attention it receives from the last few observation-window queries, in the SnapKV style, length-normalized.</a:t>
            </a:r>
          </a:p>
          <a:p/>
          <a:p>
            <a:r>
              <a:t>Then we assign every token to one of three levels, shown on the right. Level 0 -- the most important -- stays dense. Level 1 keeps only the top-magnitude features in its key and value vectors. Level 2 -- the least important -- is evicted entirely. Two percentile thresholds split the tokens under a target average budget B, and a small calibration search picks the best allocation at that fixed budget. As we'll see, this matters most when the budget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[3:55-4:55]  But that policy needs future attention -- which we don't have when a token is first generated. That's the second module: the dual-window mechanism.</a:t>
            </a:r>
          </a:p>
          <a:p/>
          <a:p>
            <a:r>
              <a:t>The trick is to DELAY compression until enough future evidence accumulates. We keep two windows. Window A holds tokens waiting to be compressed. Window B holds newly generated tokens, and their queries OBSERVE Window A, supplying the missing future attention.</a:t>
            </a:r>
          </a:p>
          <a:p/>
          <a:p>
            <a:r>
              <a:t>Three steps: we accumulate each new query's attention to Window A; we normalize by the number of observations -- since earlier tokens are seen by more queries; and we classify and slide -- comparing against the same thresholds, compressing Window A into history, and Window B becomes the new Window A.</a:t>
            </a:r>
          </a:p>
          <a:p/>
          <a:p>
            <a:r>
              <a:t>Importantly, each token is observed before it's compressed, and the number of uncompressed tokens stays bounded. We also show these prefill thresholds are stable enough to reuse -- that's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[4:55-5:55]  Third module: quantizing what remains. We use Per-Token-Tile quantization -- splitting each key or value vector into small tiles and quantizing each tile independently with its own scale and zero-point. This aligns the quantization unit with our token-level decisions and the tile-based decode path.</a:t>
            </a:r>
          </a:p>
          <a:p/>
          <a:p>
            <a:r>
              <a:t>The problem is that key states carry OUTLIERS that wreck aggressive low-bit quantization. Our fix is an orthogonal Hadamard rotation applied to queries and keys before quantizing. It suppresses the heavy tails you can see in the figure -- and because it's orthogonal, it EXACTLY preserves attention scores.</a:t>
            </a:r>
          </a:p>
          <a:p/>
          <a:p>
            <a:r>
              <a:t>The effect is dramatic. Look at the 2-bit column: plain round-to-nearest blows up to a perplexity of 115, while Hadamard rotation brings it down to 5.35 -- and it stays compatible with the sparsification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[5:55-6:50]  The final module is where compression turns into REAL speedup. We co-design the storage format and the decode kernel.</a:t>
            </a:r>
          </a:p>
          <a:p/>
          <a:p>
            <a:r>
              <a:t>Each 1-by-64 tile stores a bitmap of nonzero positions, the packed low-bit values, a per-tile offset, and the quantization metadata -- scales and zero-points.</a:t>
            </a:r>
          </a:p>
          <a:p/>
          <a:p>
            <a:r>
              <a:t>The kernel follows a load-as-compressed, compute-as-dense strategy: it loads the compact tiles from memory, unpacks and dequantizes them into dense shared-memory tiles, and then runs a standard Tensor-Core matrix-vector product.</a:t>
            </a:r>
          </a:p>
          <a:p/>
          <a:p>
            <a:r>
              <a:t>So sparsity is handled entirely on the LOADING path -- where the memory savings are -- while the compute stage stays dense and regular. That avoids the irregular memory access and control-flow divergence that usually kill sparse execution. This is exactly what a memory-bound decode stage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[6:50-7:30]  Now to the evaluation. Everything runs on a single A100 80GB, with custom CUDA and Triton kernels.</a:t>
            </a:r>
          </a:p>
          <a:p/>
          <a:p>
            <a:r>
              <a:t>For accuracy, we use the official LongBench pipeline on six representative tasks, with Llama-3-8B-Instruct as the main model, plus Llama-2, Mistral, and Qwen2.5. For efficiency, we measure end-to-end throughput and compression cost at batch sizes one through eight.</a:t>
            </a:r>
          </a:p>
          <a:p/>
          <a:p>
            <a:r>
              <a:t>Our baselines are dense decoding, a matched-budget uniform-sparsity baseline based on MUSTAFAR, and the sequential MUSTAFAR-plus-KIVI pipeline -- which I'll call M-plus-K. We test both sparse-only and joint sparse-quant settings at 50 and 70 percent.</a:t>
            </a:r>
          </a:p>
          <a:p/>
          <a:p>
            <a:r>
              <a:t>[PACING: if behind, trim this slide -- just name model, hardware, baselines.]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[7:30-8:15]  First, sparsity ALONE, to isolate the effect of budget allocation -- no quantization yet.</a:t>
            </a:r>
          </a:p>
          <a:p/>
          <a:p>
            <a:r>
              <a:t>The takeaway is on the right. Our differential policy is greater than or equal to uniform sparsity in EVERY setting -- it never hurts. And the gain is larger at the tighter 70 percent budget than at 50 percent.</a:t>
            </a:r>
          </a:p>
          <a:p/>
          <a:p>
            <a:r>
              <a:t>That confirms the intuition from the method: token-level budget allocation matters most exactly when the budget is scarce.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[8:15-9:15]  Now the main result -- the FULL joint sparse-quant pipeline against the sequential M-plus-K baseline, averaged over the six tasks.</a:t>
            </a:r>
          </a:p>
          <a:p/>
          <a:p>
            <a:r>
              <a:t>JSQKV wins in ALL FOUR settings, and -- this is the key pattern -- the gap WIDENS as compression gets more aggressive. At the most aggressive setting, 70/70 with 2-bit, the average score jumps from 39.83 to 43.12 -- a gain of over three points.</a:t>
            </a:r>
          </a:p>
          <a:p/>
          <a:p>
            <a:r>
              <a:t>Why does JSQKV win? Because jointly aligning sparsity, quantization, and execution beats stacking two methods that were never designed to work together. The cross-model results tell the same story -- favorable overall, and strongest under tight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[9:15-10:10]  And crucially, this quality holds up while delivering REAL speedup. On the left, end-to-end throughput versus batch size: the compressed paths pull ahead of dense decoding, with the clearest advantage in the small-to-medium batch regime. Overall, JSQKV improves end-to-end throughput by up to 44 percent over dense decoding.</a:t>
            </a:r>
          </a:p>
          <a:p/>
          <a:p>
            <a:r>
              <a:t>On the right, compression statistics. Compared to sparse-only MUSTAFAR-70, our sparse-quant path pushes the compression ratio from 2.09x up to 3.48x -- and, notably, it ALSO LOWERS the compression time, from about 5,400 down to 4,300 milliseconds. So the more compact representation even cuts the write-back cost. Better compression and faster --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[10:10-11:00]  To conclude. Our central message is that KV-cache compression should be treated as a systems-and-algorithms co-design problem -- not a simple composition of independent post-processing steps.</a:t>
            </a:r>
          </a:p>
          <a:p/>
          <a:p>
            <a:r>
              <a:t>JSQKV brings together four pieces: differential sparsity, the dual-window online mechanism, Hadamard-stabilized Per-Token-Tile quantization, and the sparse-quant kernel that turns compression into speedup.</a:t>
            </a:r>
          </a:p>
          <a:p/>
          <a:p>
            <a:r>
              <a:t>And the headline numbers, on Llama-3-8B: the average score improves from 39.83 to 43.12, throughput improves by 44 percent, and the KV cache is compressed by 3.48 times -- all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[11:00-11:15]  That's JSQKV. Thank you very much for your attention -- I'd be happy to take your questions.</a:t>
            </a:r>
          </a:p>
          <a:p/>
          <a:p>
            <a:r>
              <a:t>[Total ~11:15, ~45s buffer before 12:00, then 3-min Q&amp;A.]</a:t>
            </a:r>
          </a:p>
          <a:p/>
          <a:p>
            <a:r>
              <a:t>Likely Q&amp;A: why differential beats uniform under tight budgets; overhead of the dual-window buffer; why gains shrink at large batch sizes (compute-bound -&gt; dequant overhead less amortized); cross-model variance (Qwen gains big, Llama-2 modest).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12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2438704" cy="109728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704" y="5989320"/>
            <a:ext cx="2438704" cy="109728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77408" y="5989320"/>
            <a:ext cx="2438704" cy="109728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6112" y="5989320"/>
            <a:ext cx="2438704" cy="109728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4816" y="5989320"/>
            <a:ext cx="2438704" cy="109728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FB4D4"/>
                </a:solidFill>
                <a:latin typeface="Arial"/>
              </a:rPr>
              <a:t>KV-CACHE COMPRESSION  ·  LLM INFERENCE ACCELERATION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JSQKV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3EAF4"/>
                </a:solidFill>
                <a:latin typeface="Arial"/>
              </a:rPr>
              <a:t>Joint Sparsification and Quantization for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3EAF4"/>
                </a:solidFill>
                <a:latin typeface="Arial"/>
              </a:rPr>
              <a:t>KV-Cache Compression and Decode Acceleration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Hao Zhang¹   ·   Xiaoli Gong¹*   ·   Haoran Li¹   ·   Huayou Su²   ·   Qingxia Chen³   ·   Jin Zhang¹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B9C7DE"/>
                </a:solidFill>
                <a:latin typeface="Arial"/>
              </a:rPr>
              <a:t>¹ College of Computer Science, Nankai University, Tianjin, China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B9C7DE"/>
                </a:solidFill>
                <a:latin typeface="Arial"/>
              </a:rPr>
              <a:t>² National University of Defense Technology, Changsha    ³ Qian Xuesen Laboratory of Space Technology, Beijing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 i="1">
                <a:solidFill>
                  <a:srgbClr val="8DA3C6"/>
                </a:solidFill>
                <a:latin typeface="Arial"/>
              </a:rPr>
              <a:t>* Corresponding author   ·   Code: github.com/Haozon/JSQKV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/>
              </a:rPr>
              <a:t>MOTIVATION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The KV-Cache Is the Bottleneck of Long-Context Decoding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9893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D6399"/>
                </a:solidFill>
                <a:latin typeface="Arial"/>
              </a:rPr>
              <a:t>Autoregressive decoding is increasingly memory-bound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/>
              </a:rPr>
              <a:t>The KV cache grows linearly with context length and is re-read at every decode step.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/>
              </a:rPr>
              <a:t>In long-context serving it dominates memory footprint and bandwidth, capping throughput, batch size, and deployment efficiency.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/>
              </a:rPr>
              <a:t>Decoding is far more memory-bound than prefill — bandwidth, not compute, is the limiter.</a:t>
            </a:r>
          </a:p>
          <a:p>
            <a:pPr algn="l">
              <a:lnSpc>
                <a:spcPct val="106000"/>
              </a:lnSpc>
              <a:spcBef>
                <a:spcPts val="800"/>
              </a:spcBef>
              <a:spcAft>
                <a:spcPts val="800"/>
              </a:spcAft>
            </a:pPr>
            <a:r>
              <a:rPr sz="1700" b="1" i="0">
                <a:solidFill>
                  <a:srgbClr val="3D6399"/>
                </a:solidFill>
                <a:latin typeface="Arial"/>
              </a:rPr>
              <a:t>Two mainstream compression directions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862E"/>
                </a:solidFill>
                <a:latin typeface="Arial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/>
              </a:rPr>
              <a:t>Sparsification — evict/prune less useful KV states (StreamingLLM, H₂O, SnapKV, MUSTAFAR).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F8A63"/>
                </a:solidFill>
                <a:latin typeface="Arial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/>
              </a:rPr>
              <a:t>Low-bit quantization — reduce numerical precision of retained states (KIVI, KVQuant, QuaRot).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148839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/>
              </a:rPr>
              <a:t>Why it matters at decode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834639"/>
            <a:ext cx="100584" cy="82296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2816351"/>
            <a:ext cx="3931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3D6399"/>
                </a:solidFill>
                <a:latin typeface="Arial"/>
              </a:rPr>
              <a:t>Linear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/>
              </a:rPr>
              <a:t>KV memory grows with sequence length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3858767"/>
            <a:ext cx="100584" cy="82296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840479"/>
            <a:ext cx="3931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74639E"/>
                </a:solidFill>
                <a:latin typeface="Arial"/>
              </a:rPr>
              <a:t>Every step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/>
              </a:rPr>
              <a:t>entire cache re-read during decoding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4882895"/>
            <a:ext cx="100584" cy="82296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4864607"/>
            <a:ext cx="3931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B55050"/>
                </a:solidFill>
                <a:latin typeface="Arial"/>
              </a:rPr>
              <a:t>Memory-bound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/>
              </a:rPr>
              <a:t>bandwidth is the true limiter, not FLOPs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/>
              </a:rPr>
              <a:t>PROBLEM &amp; CHALLENGE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Naïve “Sparsify-then-Quantize” Does Not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/>
              </a:rPr>
              <a:t>Both directions are effective, but they are still studied in isolation. Simply chaining them fails to jointly preserve quality and deliver real end-to-end speedup.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489204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B55050"/>
                </a:solidFill>
                <a:latin typeface="Arial"/>
              </a:rPr>
              <a:t>①  Representation &amp; execution gap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/>
              </a:rPr>
              <a:t>Sparsification changes not just how much KV is kept, but the retained token/feature layout.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/>
              </a:rPr>
              <a:t>This shifts quantization granularity, compressed layout, and the decode kernel — so algorithmic compression gains do not automatically become lower memory traffic.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999232"/>
            <a:ext cx="489204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74639E"/>
                </a:solidFill>
                <a:latin typeface="Arial"/>
              </a:rPr>
              <a:t>②  Online decision gap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/>
              </a:rPr>
              <a:t>Token-differential compression is easy to estimate in prefill, where future attention is observable.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/>
              </a:rPr>
              <a:t>But at decode time a token must be cached before its future importance can be known — the policy is not directly applicable online.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Key challenge: preserve model quality under aggressive compression  AND  keep the compressed representation directly executable for real decode-time acceleration.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/>
              </a:rPr>
              <a:t>OUR APPROACH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JSQKV: A Unified Sparse-Quant Decode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/>
              </a:rPr>
              <a:t>Co-design compression policy → compressed format → execution path in one decode-stage pipeline.</a:t>
            </a:r>
          </a:p>
        </p:txBody>
      </p:sp>
      <p:pic>
        <p:nvPicPr>
          <p:cNvPr id="8" name="Picture 7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859" y="2148840"/>
            <a:ext cx="6581522" cy="2788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212080"/>
            <a:ext cx="2706624" cy="9144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53949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862E"/>
                </a:solidFill>
                <a:latin typeface="Arial"/>
              </a:rPr>
              <a:t>① Differential Sparsity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/>
              </a:rPr>
              <a:t>budgeted 3-level token policy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2988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2988" y="5212080"/>
            <a:ext cx="2706624" cy="9144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7580" y="53949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74639E"/>
                </a:solidFill>
                <a:latin typeface="Arial"/>
              </a:rPr>
              <a:t>② Dual-Window Online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/>
              </a:rPr>
              <a:t>apply policy during decoding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3056" y="5212080"/>
            <a:ext cx="2706624" cy="9144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53949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4F8A63"/>
                </a:solidFill>
                <a:latin typeface="Arial"/>
              </a:rPr>
              <a:t>③ Per-Token-Tile Quant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/>
              </a:rPr>
              <a:t>Hadamard-stabilized low-bit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3124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3124" y="5212080"/>
            <a:ext cx="2706624" cy="9144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7716" y="53949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B55050"/>
                </a:solidFill>
                <a:latin typeface="Arial"/>
              </a:rPr>
              <a:t>④ Sparse-Quant Kernel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/>
              </a:rPr>
              <a:t>load-compressed, compute-dense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/>
              </a:rPr>
              <a:t>METHOD · MODULE 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Budgeted Differential Sparsity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9862E"/>
                </a:solidFill>
                <a:latin typeface="Arial"/>
              </a:rPr>
              <a:t>Idea: not all tokens deserve the same compression.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 i="0">
                <a:solidFill>
                  <a:srgbClr val="1F2D3D"/>
                </a:solidFill>
                <a:latin typeface="Arial"/>
              </a:rPr>
              <a:t>A fixed sparsity ratio wastes budget on unimportant tokens and over-compresses important ones.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F2D3D"/>
                </a:solidFill>
                <a:latin typeface="Arial"/>
              </a:rPr>
              <a:t>Estimate importance from prefill attention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Score = mean attention a token receives from the last L_obs observation-window queries (SnapKV-style), length-normalized.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/>
              </a:rPr>
              <a:t>Assign each token to one of three levels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Two percentile thresholds (τ_high, τ_low) split tokens under the target average budget B = p₁ρ₁ + p₂.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A small calibration search picks the (p₀, ρ₁) allocation at fixed 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828800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828800"/>
            <a:ext cx="109728" cy="117043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93392"/>
            <a:ext cx="44348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4F8A63"/>
                </a:solidFill>
                <a:latin typeface="Arial"/>
              </a:rPr>
              <a:t>Level 0 — Dense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/>
              </a:rPr>
              <a:t>Most important tokens kept fully (ρ₀ = 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145536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20840" y="3145536"/>
            <a:ext cx="109728" cy="1170432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3310128"/>
            <a:ext cx="44348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9862E"/>
                </a:solidFill>
                <a:latin typeface="Arial"/>
              </a:rPr>
              <a:t>Level 1 — Partial Sparse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/>
              </a:rPr>
              <a:t>Keep only top-magnitude features per key/value vector (ratio ρ₁).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4462272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40" y="4462272"/>
            <a:ext cx="109728" cy="1170432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4626864"/>
            <a:ext cx="44348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B55050"/>
                </a:solidFill>
                <a:latin typeface="Arial"/>
              </a:rPr>
              <a:t>Level 2 — Evict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/>
              </a:rPr>
              <a:t>Least important tokens removed from cache (ρ₂ = 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577900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Result: larger gains at tighter (70%) budgets — token-level allocation matters most when budget is scarce.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4639E"/>
                </a:solidFill>
                <a:latin typeface="Arial"/>
              </a:rPr>
              <a:t>METHOD · MODULE 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Dual-Window Online Execution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/>
              </a:rPr>
              <a:t>Challenge: the differential policy needs future attention, which is unavailable when a token is first generated. Solution: delay compression until enough future evidence is accumulated.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E4E8EE"/>
          </a:solidFill>
          <a:ln w="19050">
            <a:solidFill>
              <a:srgbClr val="5B6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98648"/>
            <a:ext cx="2743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B6B7B"/>
                </a:solidFill>
                <a:latin typeface="Arial"/>
              </a:rPr>
              <a:t>Compressed History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already fixed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97480"/>
            <a:ext cx="3840480" cy="1234440"/>
          </a:xfrm>
          <a:prstGeom prst="roundRect">
            <a:avLst>
              <a:gd name="adj" fmla="val 6000"/>
            </a:avLst>
          </a:prstGeom>
          <a:solidFill>
            <a:srgbClr val="F3DFDF"/>
          </a:solidFill>
          <a:ln w="19050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898648"/>
            <a:ext cx="38404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B55050"/>
                </a:solidFill>
                <a:latin typeface="Arial"/>
              </a:rPr>
              <a:t>Window A  (to compress)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accumulates future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69748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DDE6F4"/>
          </a:solidFill>
          <a:ln w="19050">
            <a:solidFill>
              <a:srgbClr val="3D6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898648"/>
            <a:ext cx="42519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D6399"/>
                </a:solidFill>
                <a:latin typeface="Arial"/>
              </a:rPr>
              <a:t>Window B  (observation)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newly generated tokens supply evidence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32120" y="4160520"/>
            <a:ext cx="2194560" cy="128016"/>
          </a:xfrm>
          <a:prstGeom prst="rightArrow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3434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74639E"/>
                </a:solidFill>
                <a:latin typeface="Arial"/>
              </a:rPr>
              <a:t>queries in B observe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98348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/>
              </a:rPr>
              <a:t>1 · Accumulate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Each new query's attention to Window A is summed in a buffer while B fills.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9392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98348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/>
              </a:rPr>
              <a:t>2 · Normalize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Divide by #observations N⁽ⁱ⁾ = 2W−1−i, since earlier tokens are seen by more queries.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55864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498348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/>
              </a:rPr>
              <a:t>3 · Classify &amp; slide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Compare to reused (τ_high, τ_low) → merge compressed A; B becomes new 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Each token is observed before compression, while uncompressed tokens stay bounded by O(W). Prefill-estimated thresholds are shown to be stable enough to reuse (Appendix).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/>
              </a:rPr>
              <a:t>METHOD · MODULE 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Per-Token-Tile Quantization with Hadamard Rotation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4F8A63"/>
                </a:solidFill>
                <a:latin typeface="Arial"/>
              </a:rPr>
              <a:t>Align the quantization unit with token-level decisions.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/>
              </a:rPr>
              <a:t>Split each key/value vector into contiguous tiles (size g); quantize each tile independently with its own scale &amp; zero-point.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/>
              </a:rPr>
              <a:t>Key states carry outliers that destabilize low-bit quantization.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F8A63"/>
                </a:solidFill>
                <a:latin typeface="Arial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/>
              </a:rPr>
              <a:t>Apply an orthogonal Hadamard rotation to Q and K before quantizing — it suppresses heavy tails while exactly preserving attention scores (q̃ᵀk̃ = qᵀk).</a:t>
            </a:r>
          </a:p>
        </p:txBody>
      </p:sp>
      <p:pic>
        <p:nvPicPr>
          <p:cNvPr id="8" name="Picture 7" descr="hadam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77840" cy="15868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61188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B6B7B"/>
                </a:solidFill>
                <a:latin typeface="Arial"/>
              </a:rPr>
              <a:t>Key-state distribution before/after rotation (Llama-2-7B): heavy tail suppressed.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D3D"/>
                </a:solidFill>
                <a:latin typeface="Arial"/>
              </a:rPr>
              <a:t>WikiText-2 PPL — RTN vs. Hadamard rotation (lower is better)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754880"/>
          <a:ext cx="7223760" cy="141732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4-bit RTN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4-bit Rot.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3-bit RTN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3-bit Rot.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2-bit RTN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2-bit Rot.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Quant only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5.22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/>
                        </a:rPr>
                        <a:t>5.14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6.57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/>
                        </a:rPr>
                        <a:t>5.28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115.55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/>
                        </a:rPr>
                        <a:t>5.35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+50% KV sparsity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5.27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5.69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6.57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/>
                        </a:rPr>
                        <a:t>6.35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/>
                        </a:rPr>
                        <a:t>115.55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/>
                        </a:rPr>
                        <a:t>6.65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001000" y="4754880"/>
            <a:ext cx="3703320" cy="141732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4901184"/>
            <a:ext cx="32004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4F8A63"/>
                </a:solidFill>
                <a:latin typeface="Arial"/>
              </a:rPr>
              <a:t>115.55 → 5.35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2-bit PPL collapse is eliminated by Hadamard rotation, while staying compatible with subsequent sparsification.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/>
              </a:rPr>
              <a:t>METHOD · MODULE 4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Bitmap-Based Sparse-Quant Format &amp; Decode 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1907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/>
              </a:rPr>
              <a:t>Co-design storage format and kernel so compression cuts decode-time memory traffic — not just storage footprint.</a:t>
            </a:r>
          </a:p>
        </p:txBody>
      </p:sp>
      <p:pic>
        <p:nvPicPr>
          <p:cNvPr id="8" name="Picture 7" descr="sq_form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744" y="2468880"/>
            <a:ext cx="4695311" cy="2514600"/>
          </a:xfrm>
          <a:prstGeom prst="rect">
            <a:avLst/>
          </a:prstGeom>
        </p:spPr>
      </p:pic>
      <p:pic>
        <p:nvPicPr>
          <p:cNvPr id="9" name="Picture 8" descr="sq_op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063240" cy="2122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029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(a) Format: bitmap + packed low-bit values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02920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(b) Load-as-compressed, compute-as-dense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2331720"/>
            <a:ext cx="2240280" cy="269748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65208" y="2514600"/>
            <a:ext cx="183794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Each 1×64 tile stores: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/>
              </a:rPr>
              <a:t>Bitmap of nonzeros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/>
              </a:rPr>
              <a:t>Packed low-bit values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/>
              </a:rPr>
              <a:t>Per-tile offset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/>
              </a:rPr>
              <a:t>Scales / zero-points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CFDAEC"/>
                </a:solidFill>
                <a:latin typeface="Arial"/>
              </a:rPr>
              <a:t>Kernel loads compressed tiles, unpacks + dequantizes into dense shared memory, then runs Tensor-Core MatVec.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D3D"/>
                </a:solidFill>
                <a:latin typeface="Arial"/>
              </a:rPr>
              <a:t>Sparsity is handled on the loading path; the compute stage stays dense and regular — avoiding irregular access and control-flow divergence that usually limit sparse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/>
              </a:rPr>
              <a:t>EVALUATION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E9EFF7"/>
          </a:solidFill>
          <a:ln w="15875">
            <a:solidFill>
              <a:srgbClr val="3D6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19"/>
            <a:ext cx="2724912" cy="2286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29383"/>
            <a:ext cx="25054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Hardware &amp;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1"/>
            <a:ext cx="235915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1 × NVIDIA A100 80GB PCIe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Intel Xeon CPU, 252 GB RAM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Python 3.10 · PyTorch 2.6 · CUDA 12.4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Custom CUDA / Triton kernels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1276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1276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1276" y="2103119"/>
            <a:ext cx="2724912" cy="2286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1004" y="1929383"/>
            <a:ext cx="25054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4156" y="2496311"/>
            <a:ext cx="235915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Llama-3-8B-Instruct  (main)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Llama-2-7B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Mistral-7B-v0.1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Qwen2.5-7B-Instruct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2103119"/>
            <a:ext cx="2724912" cy="2286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29383"/>
            <a:ext cx="25054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Accuracy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496311"/>
            <a:ext cx="235915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LongBench official pipeline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6 tasks: NarrativeQA, Qasper,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MultiFieldQA-EN, HotpotQA, TREC, LCC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Inputs truncated to 8192 (head-tail)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7988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47988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7988" y="2103119"/>
            <a:ext cx="2724912" cy="2286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7716" y="1929383"/>
            <a:ext cx="25054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Efficiency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0868" y="2496311"/>
            <a:ext cx="235915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Llama-3-8B, 4096 in / 256 out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Batch size 1 –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Throughput, compression time,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/>
              </a:rPr>
              <a:t>KV size &amp;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7375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/>
              </a:rPr>
              <a:t>Baselines &amp; compression 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D6399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Baselines:  Dense decoding   ·   matched-budget Uniform sparsity (MUSTAFAR)   ·   sequential MUSTAFAR + KIVI  (denoted M+K).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Settings:  sparse-only at 50% / 70%   ·   joint sparse-quant at 50/50 &amp; 70/70 K/V sparsity with 4-bit and 2-bit quantization. Differential policies selected on a calibration split, re-checked on a disjoint validation split.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/>
              </a:rPr>
              <a:t>RESULTS · 1/3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Accuracy — Differential Sparsity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/>
              </a:rPr>
              <a:t>Isolating budget allocation (no quantization): Llama-3-8B-Instruct, 6 LongBench tasks, matched budget.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77440"/>
          <a:ext cx="7818114" cy="306324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49085"/>
                <a:gridCol w="849085"/>
                <a:gridCol w="849085"/>
                <a:gridCol w="849085"/>
                <a:gridCol w="849085"/>
                <a:gridCol w="849085"/>
                <a:gridCol w="849085"/>
              </a:tblGrid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NrtvQA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MF-QA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TREC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LCC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Avg.</a:t>
                      </a:r>
                    </a:p>
                  </a:txBody>
                  <a:tcPr anchor="ctr" marL="36576" marR="36576" marT="18288" marB="18288">
                    <a:solidFill>
                      <a:srgbClr val="C9862E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5B6B7B"/>
                          </a:solidFill>
                          <a:latin typeface="Arial"/>
                        </a:rPr>
                        <a:t>Dense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23.45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42.18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43.14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46.06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74.00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57.12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B6B7B"/>
                          </a:solidFill>
                          <a:latin typeface="Arial"/>
                        </a:rPr>
                        <a:t>47.66</a:t>
                      </a:r>
                    </a:p>
                  </a:txBody>
                  <a:tcPr anchor="ctr" marL="36576" marR="36576" marT="18288" marB="18288">
                    <a:solidFill>
                      <a:srgbClr val="ECEFF3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Uniform-50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23.44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43.73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42.93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45.94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73.50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56.03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47.59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/>
                        </a:rPr>
                        <a:t>Differential-50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23.44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43.73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42.93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45.94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74.00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57.08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/>
                        </a:rPr>
                        <a:t>47.85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Uniform-70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23.94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40.89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40.91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44.93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70.00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54.12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45.80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/>
                        </a:rPr>
                        <a:t>Differential-70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23.94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41.03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45.12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72.50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/>
                        </a:rPr>
                        <a:t>55.45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/>
                        </a:rPr>
                        <a:t>46.61</a:t>
                      </a:r>
                    </a:p>
                  </a:txBody>
                  <a:tcPr anchor="ctr" marL="36576" marR="36576" marT="18288" marB="18288">
                    <a:solidFill>
                      <a:srgbClr val="F7EED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95360" y="2377440"/>
            <a:ext cx="3108960" cy="306324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2633472"/>
            <a:ext cx="2596896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9862E"/>
                </a:solidFill>
                <a:latin typeface="Arial"/>
              </a:rPr>
              <a:t>Takeaways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Differential ≥ uniform in every setting — never negative.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+0.81 avg at 70% vs +0.26 at 50%.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/>
              </a:rPr>
              <a:t>Token-level allocation matters more as the budget tightens.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/>
              </a:rPr>
              <a:t>RESULTS · 2/3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Accuracy — Joint Sparse-Quant (Main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/>
              </a:rPr>
              <a:t>Llama-3-8B-Instruct vs. sequential MUSTAFAR+KIVI (M+K) at matched budgets — average over 6 tasks.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31720"/>
          <a:ext cx="5943600" cy="320040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1645920"/>
                <a:gridCol w="1645920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M+K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JSQKV</a:t>
                      </a:r>
                    </a:p>
                  </a:txBody>
                  <a:tcPr anchor="ctr" marL="36576" marR="36576" marT="18288" marB="18288">
                    <a:solidFill>
                      <a:srgbClr val="4F8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/>
                        </a:rPr>
                        <a:t>50/50 + 4-bit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/>
                        </a:rPr>
                        <a:t>45.90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/>
                        </a:rPr>
                        <a:t>45.93   (+0.03)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/>
                        </a:rPr>
                        <a:t>50/50 + 2-bit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/>
                        </a:rPr>
                        <a:t>43.38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/>
                        </a:rPr>
                        <a:t>44.02   (+0.64)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/>
                        </a:rPr>
                        <a:t>70/70 + 4-bit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/>
                        </a:rPr>
                        <a:t>44.18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/>
                        </a:rPr>
                        <a:t>45.34   (+1.16)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F2D3D"/>
                          </a:solidFill>
                          <a:latin typeface="Arial"/>
                        </a:rPr>
                        <a:t>70/70 + 2-bit</a:t>
                      </a:r>
                    </a:p>
                  </a:txBody>
                  <a:tcPr anchor="ctr" marL="36576" marR="36576" marT="18288" marB="18288">
                    <a:solidFill>
                      <a:srgbClr val="E6F0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/>
                        </a:rPr>
                        <a:t>39.83</a:t>
                      </a:r>
                    </a:p>
                  </a:txBody>
                  <a:tcPr anchor="ctr" marL="36576" marR="36576" marT="18288" marB="18288">
                    <a:solidFill>
                      <a:srgbClr val="E6F0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/>
                        </a:rPr>
                        <a:t>43.12   (+3.29)</a:t>
                      </a:r>
                    </a:p>
                  </a:txBody>
                  <a:tcPr anchor="ctr" marL="36576" marR="36576" marT="18288" marB="18288">
                    <a:solidFill>
                      <a:srgbClr val="E6F0E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233172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532888"/>
            <a:ext cx="4343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39.83  →  43.12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FDAEC"/>
                </a:solidFill>
                <a:latin typeface="Arial"/>
              </a:rPr>
              <a:t>Largest gain at the most aggressive 70/70 + 2-bit setting (+3.29 avg).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402336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206240"/>
            <a:ext cx="4343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4F8A63"/>
                </a:solidFill>
                <a:latin typeface="Arial"/>
              </a:rPr>
              <a:t>Why JSQKV wins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/>
              </a:rPr>
              <a:t>JSQKV beats M+K in all four settings; the gap widens as compression gets more aggressive — evidence that jointly aligning sparsity, quantization and execution beats a sequential pipeline.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Cross-model (Llama-2 / Mistral / Qwen2.5): favorable but non-uniform, strongest under tight budgets.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/>
              </a:rPr>
              <a:t>RESULTS · 3/3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Efficiency — Throughput &amp; Compression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12</a:t>
            </a:r>
          </a:p>
        </p:txBody>
      </p:sp>
      <p:pic>
        <p:nvPicPr>
          <p:cNvPr id="7" name="Picture 6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35495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39496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End-to-end decoding throughput vs. batch size (Llama-3-8B).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14173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93392"/>
            <a:ext cx="4718304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55050"/>
                </a:solidFill>
                <a:latin typeface="Arial"/>
              </a:rPr>
              <a:t>+44.2%  end-to-end throughput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/>
              </a:rPr>
              <a:t>over dense decoding in long-context serving (70/70 + 2-bit); clearest gains in the small-to-medium batch regime.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290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2D3D"/>
                </a:solidFill>
                <a:latin typeface="Arial"/>
              </a:rPr>
              <a:t>Compression statistics (input 4096) — 70% vs. 70/70+2-bit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3840480"/>
          <a:ext cx="5303520" cy="1874519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1066800"/>
                <a:gridCol w="1066800"/>
                <a:gridCol w="1066800"/>
              </a:tblGrid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Method (BS=8)</a:t>
                      </a:r>
                    </a:p>
                  </a:txBody>
                  <a:tcPr anchor="ctr" marL="36576" marR="36576" marT="18288" marB="18288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KV (MB)</a:t>
                      </a:r>
                    </a:p>
                  </a:txBody>
                  <a:tcPr anchor="ctr" marL="36576" marR="36576" marT="18288" marB="18288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Ratio</a:t>
                      </a:r>
                    </a:p>
                  </a:txBody>
                  <a:tcPr anchor="ctr" marL="36576" marR="36576" marT="18288" marB="18288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Time (ms)</a:t>
                      </a:r>
                    </a:p>
                  </a:txBody>
                  <a:tcPr anchor="ctr" marL="36576" marR="36576" marT="18288" marB="18288">
                    <a:solidFill>
                      <a:srgbClr val="B55050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Sparse-50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2720.2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1.51×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5688.2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Sparse-70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1964.3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2.09×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5411.3</a:t>
                      </a:r>
                    </a:p>
                  </a:txBody>
                  <a:tcPr anchor="ctr" marL="36576" marR="36576" marT="18288" marB="18288">
                    <a:solidFill>
                      <a:srgbClr val="F0F3F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Sparse-50 + 2b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1261.2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3.25×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/>
                        </a:rPr>
                        <a:t>4317.9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2D3D"/>
                          </a:solidFill>
                          <a:latin typeface="Arial"/>
                        </a:rPr>
                        <a:t>Sparse-70 + 2b</a:t>
                      </a:r>
                    </a:p>
                  </a:txBody>
                  <a:tcPr anchor="ctr" marL="36576" marR="36576" marT="18288" marB="18288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/>
                        </a:rPr>
                        <a:t>1176.3</a:t>
                      </a:r>
                    </a:p>
                  </a:txBody>
                  <a:tcPr anchor="ctr" marL="36576" marR="36576" marT="18288" marB="18288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B55050"/>
                          </a:solidFill>
                          <a:latin typeface="Arial"/>
                        </a:rPr>
                        <a:t>3.48×</a:t>
                      </a:r>
                    </a:p>
                  </a:txBody>
                  <a:tcPr anchor="ctr" marL="36576" marR="36576" marT="18288" marB="18288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/>
                        </a:rPr>
                        <a:t>4293.2</a:t>
                      </a:r>
                    </a:p>
                  </a:txBody>
                  <a:tcPr anchor="ctr" marL="36576" marR="36576" marT="18288" marB="18288">
                    <a:solidFill>
                      <a:srgbClr val="F6E7E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580644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/>
              </a:rPr>
              <a:t>Higher compression ratio (2.09× → 3.48×) AND lower compression time (5411 → 4293 ms): the compact sparse-quant representation also cuts write-back cost.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/>
              </a:rPr>
              <a:t>SUMMARY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D3D"/>
                </a:solidFill>
                <a:latin typeface="Arial"/>
              </a:rPr>
              <a:t>JSQKV treats KV-cache compression as a systems-and-algorithms co-design problem — not a simple composition of independent post-processing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43200"/>
            <a:ext cx="2724912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62656"/>
            <a:ext cx="235915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862E"/>
                </a:solidFill>
                <a:latin typeface="Arial"/>
              </a:rPr>
              <a:t>Differential sparsity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3-level, budgeted token allocation from prefill attention.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1276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1276" y="2743200"/>
            <a:ext cx="2724912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4156" y="2962656"/>
            <a:ext cx="235915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4639E"/>
                </a:solidFill>
                <a:latin typeface="Arial"/>
              </a:rPr>
              <a:t>Dual-window online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Makes the policy applicable during autoregressive decoding.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743200"/>
            <a:ext cx="2724912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962656"/>
            <a:ext cx="235915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F8A63"/>
                </a:solidFill>
                <a:latin typeface="Arial"/>
              </a:rPr>
              <a:t>Per-Token-Tile quant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Hadamard-stabilized low-bit representation aligned to tiles.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7988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7988" y="2743200"/>
            <a:ext cx="2724912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0868" y="2962656"/>
            <a:ext cx="235915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55050"/>
                </a:solidFill>
                <a:latin typeface="Arial"/>
              </a:rPr>
              <a:t>Sparse-quant kernel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/>
              </a:rPr>
              <a:t>Load-compressed / compute-dense: turns compression into speedup.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103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9FB4D4"/>
                </a:solidFill>
                <a:latin typeface="Arial"/>
              </a:rPr>
              <a:t>Headline results (Llama-3-8B-Instruct)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30952"/>
            <a:ext cx="3383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39.83 → 43.12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/>
              </a:rPr>
              <a:t>avg score, 70/70+2-bit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330952"/>
            <a:ext cx="3383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+44.2%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/>
              </a:rPr>
              <a:t>end-to-end throughput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330952"/>
            <a:ext cx="3383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3.48×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/>
              </a:rPr>
              <a:t>KV-cache compression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438704" cy="12801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2438704" cy="12801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704" y="0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704" y="6729984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7408" y="0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7408" y="6729984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6112" y="0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6112" y="6729984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54816" y="0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54816" y="6729984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Thank You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C5D2E6"/>
                </a:solidFill>
                <a:latin typeface="Arial"/>
              </a:rPr>
              <a:t>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9C7DE"/>
                </a:solidFill>
                <a:latin typeface="Arial"/>
              </a:rPr>
              <a:t>JSQKV — Joint Sparsification and Quantization for KV-Cache Compression and Decode Acceleration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DA3C6"/>
                </a:solidFill>
                <a:latin typeface="Arial"/>
              </a:rPr>
              <a:t>Hao Zhang, Xiaoli Gong*, Haoran Li, Huayou Su, Qingxia Chen, Jin Zhang   ·   Nankai University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600"/>
              </a:spcAft>
            </a:pPr>
            <a:r>
              <a:rPr sz="1250" b="0" i="1">
                <a:solidFill>
                  <a:srgbClr val="8DA3C6"/>
                </a:solidFill>
                <a:latin typeface="Arial"/>
              </a:rPr>
              <a:t>Code:  github.com/Haozon/JSQKV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